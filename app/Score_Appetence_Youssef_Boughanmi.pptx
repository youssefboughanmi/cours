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Sans score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Taux de conversion (%)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Avec score</c:v>
                </c:pt>
              </c:strCache>
            </c:strRef>
          </c:tx>
          <c:spPr>
            <a:solidFill>
              <a:srgbClr val="00A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Taux de conversion (%)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4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884A">
              <a:alpha val="30000"/>
            </a:srgbClr>
          </a:solidFill>
          <a:ln w="12700">
            <a:solidFill>
              <a:srgbClr val="00884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0A550">
              <a:alpha val="40000"/>
            </a:srgbClr>
          </a:solidFill>
          <a:ln w="12700">
            <a:solidFill>
              <a:srgbClr val="00A55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550"/>
                </a:solidFill>
              </a:rPr>
              <a:t>CRÉDIT AGRICOLE · DATA SCIENCE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 Data au Service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du Marketing :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D700"/>
                </a:solidFill>
              </a:rPr>
              <a:t>Comprendre le Score d'Appétence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3200400" cy="36576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63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Youssef Boughanmi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550"/>
                </a:solidFill>
              </a:rPr>
              <a:t>Data Scientist · Crédit Agricole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2926080" cy="457200"/>
          </a:xfrm>
          <a:prstGeom prst="roundRect">
            <a:avLst>
              <a:gd name="adj" fmla="val 14000"/>
            </a:avLst>
          </a:prstGeom>
          <a:solidFill>
            <a:srgbClr val="00A550">
              <a:alpha val="80000"/>
            </a:srgbClr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Master Marketing · Cours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Au programme aujourd'hui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E8F5EE"/>
          </a:solidFill>
          <a:ln w="6350">
            <a:solidFill>
              <a:srgbClr val="D0E8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475488" cy="47548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243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1F"/>
                </a:solidFill>
              </a:rPr>
              <a:t>La data dans le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1790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Volume, variété, vélocité — pourquoi c'est crucial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11680"/>
            <a:ext cx="475488" cy="47548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1F"/>
                </a:solidFill>
              </a:rPr>
              <a:t>Qu'est-ce qu'un score d'appétence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2677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Définition, objectifs et cas d'usage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8412480" cy="640080"/>
          </a:xfrm>
          <a:prstGeom prst="rect">
            <a:avLst/>
          </a:prstGeom>
          <a:solidFill>
            <a:srgbClr val="E8F5EE"/>
          </a:solidFill>
          <a:ln w="6350">
            <a:solidFill>
              <a:srgbClr val="D0E8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61488"/>
            <a:ext cx="475488" cy="47548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1F"/>
                </a:solidFill>
              </a:rPr>
              <a:t>Comment on le construit 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 la donnée brute au modèle prédictif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11296"/>
            <a:ext cx="475488" cy="47548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1F"/>
                </a:solidFill>
              </a:rPr>
              <a:t>Application en campagne marketing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7673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Ciblage, personnalisation, ROI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412480" cy="640080"/>
          </a:xfrm>
          <a:prstGeom prst="rect">
            <a:avLst/>
          </a:prstGeom>
          <a:solidFill>
            <a:srgbClr val="E8F5EE"/>
          </a:solidFill>
          <a:ln w="6350">
            <a:solidFill>
              <a:srgbClr val="D0E8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261104"/>
            <a:ext cx="475488" cy="47548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4242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1F"/>
                </a:solidFill>
              </a:rPr>
              <a:t>Bonnes pratiques &amp; éthique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5171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RGPD, biais, gouvernance des modèles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· La Data dans le Marketing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1097280"/>
          </a:xfrm>
          <a:prstGeom prst="rect">
            <a:avLst/>
          </a:prstGeom>
          <a:solidFill>
            <a:srgbClr val="E8F5EE"/>
          </a:solidFill>
          <a:ln w="8890">
            <a:solidFill>
              <a:srgbClr val="C0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550"/>
                </a:solidFill>
              </a:rPr>
              <a:t>2,5 Mds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d'octets générés chaque jour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143000"/>
            <a:ext cx="2606040" cy="1097280"/>
          </a:xfrm>
          <a:prstGeom prst="rect">
            <a:avLst/>
          </a:prstGeom>
          <a:solidFill>
            <a:srgbClr val="E8F5EE"/>
          </a:solidFill>
          <a:ln w="8890">
            <a:solidFill>
              <a:srgbClr val="C0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550"/>
                </a:solidFill>
              </a:rPr>
              <a:t>73%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5468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des entreprises investissent dans la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1143000"/>
            <a:ext cx="2606040" cy="1097280"/>
          </a:xfrm>
          <a:prstGeom prst="rect">
            <a:avLst/>
          </a:prstGeom>
          <a:solidFill>
            <a:srgbClr val="E8F5EE"/>
          </a:solidFill>
          <a:ln w="8890">
            <a:solidFill>
              <a:srgbClr val="C0DD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550"/>
                </a:solidFill>
              </a:rPr>
              <a:t>5×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8932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meilleur ROI avec le ciblage data-driven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1F"/>
                </a:solidFill>
              </a:rPr>
              <a:t>Les données exploitées en marketing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88920"/>
            <a:ext cx="2606040" cy="3840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88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👤  Données CRM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2461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F"/>
                </a:solidFill>
              </a:rPr>
              <a:t>Historique d'achats, contrats, réclamations, CSP, âge, localisation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27889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2788920"/>
            <a:ext cx="2606040" cy="3840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788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📱  Données comportementales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32461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F"/>
                </a:solidFill>
              </a:rPr>
              <a:t>Navigation web, clics, temps de lecture, interactions app mobile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7889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2788920"/>
            <a:ext cx="2606040" cy="3840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788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🌐  Données externes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0760" y="32461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F"/>
                </a:solidFill>
              </a:rPr>
              <a:t>Open data, INSEE, météo, événements de vie, partenaires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Qu'est-ce qu'un Score d'Appétence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E8F5EE"/>
          </a:solidFill>
          <a:ln w="1270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82296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4A"/>
                </a:solidFill>
              </a:rPr>
              <a:t>Définition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1F"/>
                </a:solidFill>
              </a:rPr>
              <a:t>Un score d'appétence est une valeur numérique (0 → 100) qui quantifie la probabilité qu'un client souscrive à un produit ou service donné. Il est calculé à partir de ses données historiques et comportementales.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1F"/>
                </a:solidFill>
              </a:rPr>
              <a:t>Exemple concret — Crédit Agricole 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201168" cy="20116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F"/>
                </a:solidFill>
              </a:rPr>
              <a:t>Probabilité de souscrire à une assurance habitation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201168" cy="20116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F"/>
                </a:solidFill>
              </a:rPr>
              <a:t>Appétence pour un prêt immobilier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474720"/>
            <a:ext cx="201168" cy="20116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F"/>
                </a:solidFill>
              </a:rPr>
              <a:t>Risque de churn (résiliation)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201168" cy="20116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50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1F"/>
                </a:solidFill>
              </a:rPr>
              <a:t>Ouverture d'un livret épargne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3840480" cy="2834640"/>
          </a:xfrm>
          <a:prstGeom prst="rect">
            <a:avLst/>
          </a:prstGeom>
          <a:solidFill>
            <a:srgbClr val="F4F7F4"/>
          </a:solidFill>
          <a:ln w="6350">
            <a:solidFill>
              <a:srgbClr val="D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1F"/>
                </a:solidFill>
              </a:rPr>
              <a:t>Interprétation du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1F"/>
                </a:solidFill>
              </a:rPr>
              <a:t>Score 0–30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523744"/>
            <a:ext cx="493776" cy="2011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487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Peu probable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1F"/>
                </a:solidFill>
              </a:rPr>
              <a:t>Score 31–60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3026664"/>
            <a:ext cx="1028700" cy="201168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À surveiller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1F"/>
                </a:solidFill>
              </a:rPr>
              <a:t>Score 61–80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3529584"/>
            <a:ext cx="1440180" cy="20116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Bonne appétence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995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1F"/>
                </a:solidFill>
              </a:rPr>
              <a:t>Score 81–100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4032504"/>
            <a:ext cx="1975104" cy="201168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95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Très fort potentiel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· Comment construit-on un Score d'Appétence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554480" cy="3474720"/>
          </a:xfrm>
          <a:prstGeom prst="rect">
            <a:avLst/>
          </a:prstGeom>
          <a:solidFill>
            <a:srgbClr val="E8F5EE"/>
          </a:solidFill>
          <a:ln w="889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143000"/>
            <a:ext cx="1554480" cy="41148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627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" y="21214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Collecte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des données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CRM, transactions,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navigation, externe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2697480"/>
            <a:ext cx="201168" cy="36576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5786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550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1143000"/>
            <a:ext cx="1554480" cy="3474720"/>
          </a:xfrm>
          <a:prstGeom prst="rect">
            <a:avLst/>
          </a:prstGeom>
          <a:solidFill>
            <a:srgbClr val="E8F5EE"/>
          </a:solidFill>
          <a:ln w="889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143000"/>
            <a:ext cx="1554480" cy="41148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65960" y="1627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21214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Préparation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&amp; nettoyage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Valeurs manquantes,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encodage, normalisation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2697480"/>
            <a:ext cx="201168" cy="36576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5786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55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1143000"/>
            <a:ext cx="1554480" cy="3474720"/>
          </a:xfrm>
          <a:prstGeom prst="rect">
            <a:avLst/>
          </a:prstGeom>
          <a:solidFill>
            <a:srgbClr val="E8F5EE"/>
          </a:solidFill>
          <a:ln w="889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143000"/>
            <a:ext cx="1554480" cy="41148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1627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94760" y="21214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Variables agrégées,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ratios, indicateurs clés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0" y="2697480"/>
            <a:ext cx="201168" cy="36576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5786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550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1143000"/>
            <a:ext cx="1554480" cy="3474720"/>
          </a:xfrm>
          <a:prstGeom prst="rect">
            <a:avLst/>
          </a:prstGeom>
          <a:solidFill>
            <a:srgbClr val="E8F5EE"/>
          </a:solidFill>
          <a:ln w="889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1143000"/>
            <a:ext cx="1554480" cy="41148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1627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77840" y="21214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Modélisation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ML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Régression logistique,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Random Forest, XGBoost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86600" y="2697480"/>
            <a:ext cx="201168" cy="36576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5786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550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1143000"/>
            <a:ext cx="1554480" cy="3474720"/>
          </a:xfrm>
          <a:prstGeom prst="rect">
            <a:avLst/>
          </a:prstGeom>
          <a:solidFill>
            <a:srgbClr val="E8F5EE"/>
          </a:solidFill>
          <a:ln w="889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0" y="1143000"/>
            <a:ext cx="1554480" cy="41148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1143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15200" y="1627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60920" y="21214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A1F"/>
                </a:solidFill>
              </a:rPr>
              <a:t>&amp; déploiement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6092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AUC-ROC, Gini,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calibration du score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E8F5EE"/>
          </a:solidFill>
          <a:ln w="6350">
            <a:solidFill>
              <a:srgbClr val="00A5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A1F"/>
                </a:solidFill>
              </a:rPr>
              <a:t>💡 La variable cible (Y) est binaire : 1 = a souscrit, 0 = n'a pas souscrit · On cherche à prédire P(Y=1 | X)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Application en Campagne Marketing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</a:rPr>
              <a:t>Sans score d'appétence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8348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84A"/>
                </a:solidFill>
              </a:rPr>
              <a:t>Avec score d'appétence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1A2A1F"/>
          </a:solidFill>
          <a:ln w="12700">
            <a:solidFill>
              <a:srgbClr val="1A2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65760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</a:rPr>
              <a:t>✗  Envoi à toute la base clients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365760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</a:rPr>
              <a:t>✗  Taux de conversion faible (~1-2%)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365760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</a:rPr>
              <a:t>✗  Coût par acquisition élevé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365760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</a:rPr>
              <a:t>✗  Messages non personnalisés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365760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</a:rPr>
              <a:t>✗  Risque de saturation / opt-out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1508760"/>
            <a:ext cx="36576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A3D9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84A"/>
                </a:solidFill>
              </a:rPr>
              <a:t>✓  Ciblage sur les top scores (ex. ≥ 70)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36576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A3D9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84A"/>
                </a:solidFill>
              </a:rPr>
              <a:t>✓  Taux de conversion ×3 à ×5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2606040"/>
            <a:ext cx="36576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A3D9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84A"/>
                </a:solidFill>
              </a:rPr>
              <a:t>✓  Budget optimisé, ROI mesurable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66360" y="3154680"/>
            <a:ext cx="36576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A3D9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84A"/>
                </a:solidFill>
              </a:rPr>
              <a:t>✓  Message adapté au profil client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3703320"/>
            <a:ext cx="36576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A3D9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84A"/>
                </a:solidFill>
              </a:rPr>
              <a:t>✓  Moins de contacts, plus d'impact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20040" y="4251960"/>
          <a:ext cx="850392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84A"/>
          </a:solidFill>
          <a:ln w="12700">
            <a:solidFill>
              <a:srgbClr val="0088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· Bonnes Pratiques &amp; Éthique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54864" cy="164592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1F"/>
                </a:solidFill>
              </a:rPr>
              <a:t>🔒  RGPD &amp; Consentement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" y="1664208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Obtenir le consentement explicite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1208" y="2011680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Droit d'accès et d'opposition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" y="2359152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313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Privacy by design dès la conception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11480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43000"/>
            <a:ext cx="54864" cy="164592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1F"/>
                </a:solidFill>
              </a:rPr>
              <a:t>⚖️  Biais &amp; Équité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10328" y="1664208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Auditer les biais de sélection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10328" y="2011680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Éviter les discriminations indirectes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0328" y="2359152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2313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Tester sur des sous-groupes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411480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71800"/>
            <a:ext cx="54864" cy="164592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1F"/>
                </a:solidFill>
              </a:rPr>
              <a:t>🔍  Transparence du modèle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21208" y="3493008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Expliquer les décisions (SHAP, LIME)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1208" y="3840480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Documenter les variables utilisées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1208" y="4187952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Rapport de performance régulier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71800"/>
            <a:ext cx="411480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A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71800"/>
            <a:ext cx="54864" cy="164592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1F"/>
                </a:solidFill>
              </a:rPr>
              <a:t>♻️  Maintenance &amp; Dérive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910328" y="3493008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93208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Monitorer la performance dans le temps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0328" y="3840480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Détecter le data drift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0328" y="4187952"/>
            <a:ext cx="109728" cy="109728"/>
          </a:xfrm>
          <a:prstGeom prst="ellipse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93208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Ré-entraîner périodiquement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E8F5EE"/>
          </a:solidFill>
          <a:ln w="6350">
            <a:solidFill>
              <a:srgbClr val="00A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A1F"/>
                </a:solidFill>
              </a:rPr>
              <a:t>« Un bon modèle est utile, un modèle responsable est durable. »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0884A">
              <a:alpha val="25000"/>
            </a:srgbClr>
          </a:solidFill>
          <a:ln w="12700">
            <a:solidFill>
              <a:srgbClr val="00884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0A550">
              <a:alpha val="30000"/>
            </a:srgbClr>
          </a:solidFill>
          <a:ln w="12700">
            <a:solidFill>
              <a:srgbClr val="00A55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550"/>
                </a:solidFill>
              </a:rPr>
              <a:t>À retenir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 Data est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 carburant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du marketing moderne.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2542032"/>
            <a:ext cx="8046720" cy="457200"/>
          </a:xfrm>
          <a:prstGeom prst="rect">
            <a:avLst/>
          </a:prstGeom>
          <a:solidFill>
            <a:srgbClr val="00884A">
              <a:alpha val="20000"/>
            </a:srgbClr>
          </a:solidFill>
          <a:ln w="12700">
            <a:solidFill>
              <a:srgbClr val="00884A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📊  La donnée permet de passer du ciblage de masse à la personnalisation à grande échelle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3090672"/>
            <a:ext cx="8046720" cy="457200"/>
          </a:xfrm>
          <a:prstGeom prst="rect">
            <a:avLst/>
          </a:prstGeom>
          <a:solidFill>
            <a:srgbClr val="00884A">
              <a:alpha val="20000"/>
            </a:srgbClr>
          </a:solidFill>
          <a:ln w="12700">
            <a:solidFill>
              <a:srgbClr val="00884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906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🎯  Le score d'appétence prédit la probabilité d'achat client par client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639312"/>
            <a:ext cx="8046720" cy="457200"/>
          </a:xfrm>
          <a:prstGeom prst="rect">
            <a:avLst/>
          </a:prstGeom>
          <a:solidFill>
            <a:srgbClr val="00884A">
              <a:alpha val="20000"/>
            </a:srgbClr>
          </a:solidFill>
          <a:ln w="12700">
            <a:solidFill>
              <a:srgbClr val="00884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393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🤖  Le machine learning automatise et améliore ce scoring en continu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4187952"/>
            <a:ext cx="8046720" cy="457200"/>
          </a:xfrm>
          <a:prstGeom prst="rect">
            <a:avLst/>
          </a:prstGeom>
          <a:solidFill>
            <a:srgbClr val="00884A">
              <a:alpha val="20000"/>
            </a:srgbClr>
          </a:solidFill>
          <a:ln w="12700">
            <a:solidFill>
              <a:srgbClr val="00884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87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⚖️  Éthique, RGPD et transparence sont non-négociables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550"/>
                </a:solidFill>
              </a:rPr>
              <a:t>Merci pour votre attention · Des questions 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 d'Appétence &amp; Data Marketing</dc:title>
  <dc:subject>PptxGenJS Presentation</dc:subject>
  <dc:creator>Youssef Boughanmi</dc:creator>
  <cp:lastModifiedBy>Youssef Boughanmi</cp:lastModifiedBy>
  <cp:revision>1</cp:revision>
  <dcterms:created xsi:type="dcterms:W3CDTF">2026-04-16T19:54:50Z</dcterms:created>
  <dcterms:modified xsi:type="dcterms:W3CDTF">2026-04-16T19:54:50Z</dcterms:modified>
</cp:coreProperties>
</file>