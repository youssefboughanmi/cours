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4630400" cy="8229600"/>
  <p:notesSz cx="8229600" cy="14630400"/>
  <p:embeddedFontLst>
    <p:embeddedFont>
      <p:font typeface="Inter" panose="02000503000000020004" pitchFamily="2" charset="0"/>
      <p:regular r:id="rId11"/>
    </p:embeddedFont>
  </p:embeddedFont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FA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7"/>
    <p:restoredTop sz="94610"/>
  </p:normalViewPr>
  <p:slideViewPr>
    <p:cSldViewPr snapToGrid="0" snapToObjects="1">
      <p:cViewPr varScale="1">
        <p:scale>
          <a:sx n="103" d="100"/>
          <a:sy n="103" d="100"/>
        </p:scale>
        <p:origin x="34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70072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688658"/>
            <a:ext cx="7556421" cy="2338864"/>
          </a:xfrm>
          <a:prstGeom prst="rect">
            <a:avLst/>
          </a:prstGeom>
          <a:noFill/>
          <a:ln/>
        </p:spPr>
        <p:txBody>
          <a:bodyPr wrap="square" lIns="0" tIns="0" rIns="0" bIns="0" rtlCol="0" anchor="t"/>
          <a:lstStyle/>
          <a:p>
            <a:pPr marL="0" indent="0" algn="l">
              <a:lnSpc>
                <a:spcPts val="6100"/>
              </a:lnSpc>
              <a:buNone/>
            </a:pPr>
            <a:r>
              <a:rPr lang="en-US" sz="4900" b="1" kern="0" spc="-98" dirty="0">
                <a:solidFill>
                  <a:srgbClr val="F95F88"/>
                </a:solidFill>
                <a:latin typeface="Petrona Bold" pitchFamily="34" charset="0"/>
                <a:ea typeface="Petrona Bold" pitchFamily="34" charset="-122"/>
                <a:cs typeface="Petrona Bold" pitchFamily="34" charset="-120"/>
              </a:rPr>
              <a:t>Le Score d'Appétence : Optimiser vos Stratégies Commerciales</a:t>
            </a:r>
            <a:endParaRPr lang="en-US" sz="4900" dirty="0"/>
          </a:p>
        </p:txBody>
      </p:sp>
      <p:sp>
        <p:nvSpPr>
          <p:cNvPr id="4" name="Text 1"/>
          <p:cNvSpPr/>
          <p:nvPr/>
        </p:nvSpPr>
        <p:spPr>
          <a:xfrm>
            <a:off x="793790" y="3367683"/>
            <a:ext cx="7556421" cy="1814513"/>
          </a:xfrm>
          <a:prstGeom prst="rect">
            <a:avLst/>
          </a:prstGeom>
          <a:noFill/>
          <a:ln/>
        </p:spPr>
        <p:txBody>
          <a:bodyPr wrap="square" lIns="0" tIns="0" rIns="0" bIns="0" rtlCol="0" anchor="t"/>
          <a:lstStyle/>
          <a:p>
            <a:pPr marL="0" indent="0" algn="l">
              <a:lnSpc>
                <a:spcPts val="2850"/>
              </a:lnSpc>
              <a:buNone/>
            </a:pPr>
            <a:r>
              <a:rPr lang="en-US" sz="1750" kern="0" spc="-36" dirty="0">
                <a:solidFill>
                  <a:srgbClr val="272525"/>
                </a:solidFill>
                <a:latin typeface="Inter" pitchFamily="34" charset="0"/>
                <a:ea typeface="Inter" pitchFamily="34" charset="-122"/>
                <a:cs typeface="Inter" pitchFamily="34" charset="-120"/>
              </a:rPr>
              <a:t>Bienvenue à cette présentation sur le score d'appétence, un outil essentiel pour transformer votre approche marketing et commerciale. Nous explorerons comment cette méthodologie peut vous aider à identifier les clients les plus susceptibles de répondre favorablement à vos offres.</a:t>
            </a:r>
            <a:endParaRPr lang="en-US" sz="1750" dirty="0"/>
          </a:p>
        </p:txBody>
      </p:sp>
      <p:sp>
        <p:nvSpPr>
          <p:cNvPr id="5" name="Text 2"/>
          <p:cNvSpPr/>
          <p:nvPr/>
        </p:nvSpPr>
        <p:spPr>
          <a:xfrm>
            <a:off x="793790" y="5437346"/>
            <a:ext cx="7556421" cy="1451610"/>
          </a:xfrm>
          <a:prstGeom prst="rect">
            <a:avLst/>
          </a:prstGeom>
          <a:noFill/>
          <a:ln/>
        </p:spPr>
        <p:txBody>
          <a:bodyPr wrap="square" lIns="0" tIns="0" rIns="0" bIns="0" rtlCol="0" anchor="t"/>
          <a:lstStyle/>
          <a:p>
            <a:pPr marL="0" indent="0" algn="l">
              <a:lnSpc>
                <a:spcPts val="2850"/>
              </a:lnSpc>
              <a:buNone/>
            </a:pPr>
            <a:r>
              <a:rPr lang="en-US" sz="1750" kern="0" spc="-36" dirty="0">
                <a:solidFill>
                  <a:srgbClr val="272525"/>
                </a:solidFill>
                <a:latin typeface="Inter" pitchFamily="34" charset="0"/>
                <a:ea typeface="Inter" pitchFamily="34" charset="-122"/>
                <a:cs typeface="Inter" pitchFamily="34" charset="-120"/>
              </a:rPr>
              <a:t>Au cours des prochaines minutes, nous aborderons la méthodologie de construction, les données nécessaires, les cas d'application concrets, ainsi que les limites et bonnes pratiques à adopter pour maximiser l'efficacité de vos campagnes.</a:t>
            </a:r>
            <a:endParaRPr lang="en-US" sz="1750" dirty="0"/>
          </a:p>
        </p:txBody>
      </p:sp>
      <p:sp>
        <p:nvSpPr>
          <p:cNvPr id="6" name="Shape 3"/>
          <p:cNvSpPr/>
          <p:nvPr/>
        </p:nvSpPr>
        <p:spPr>
          <a:xfrm>
            <a:off x="793790" y="7161014"/>
            <a:ext cx="362903" cy="362903"/>
          </a:xfrm>
          <a:prstGeom prst="roundRect">
            <a:avLst>
              <a:gd name="adj" fmla="val 25194296"/>
            </a:avLst>
          </a:prstGeom>
          <a:noFill/>
          <a:ln w="7620">
            <a:solidFill>
              <a:srgbClr val="FFFFFF"/>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085023"/>
          </a:xfrm>
          <a:prstGeom prst="rect">
            <a:avLst/>
          </a:prstGeom>
        </p:spPr>
      </p:pic>
      <p:sp>
        <p:nvSpPr>
          <p:cNvPr id="3" name="Text 0"/>
          <p:cNvSpPr/>
          <p:nvPr/>
        </p:nvSpPr>
        <p:spPr>
          <a:xfrm>
            <a:off x="583763" y="2677120"/>
            <a:ext cx="7121604" cy="573405"/>
          </a:xfrm>
          <a:prstGeom prst="rect">
            <a:avLst/>
          </a:prstGeom>
          <a:noFill/>
          <a:ln/>
        </p:spPr>
        <p:txBody>
          <a:bodyPr wrap="none" lIns="0" tIns="0" rIns="0" bIns="0" rtlCol="0" anchor="t"/>
          <a:lstStyle/>
          <a:p>
            <a:pPr marL="0" indent="0" algn="l">
              <a:lnSpc>
                <a:spcPts val="4500"/>
              </a:lnSpc>
              <a:buNone/>
            </a:pPr>
            <a:r>
              <a:rPr lang="en-US" sz="3600" b="1" kern="0" spc="-72" dirty="0">
                <a:solidFill>
                  <a:srgbClr val="F95F88"/>
                </a:solidFill>
                <a:latin typeface="Petrona Bold" pitchFamily="34" charset="0"/>
                <a:ea typeface="Petrona Bold" pitchFamily="34" charset="-122"/>
                <a:cs typeface="Petrona Bold" pitchFamily="34" charset="-120"/>
              </a:rPr>
              <a:t>Qu'est-ce que le Score d'Appétence ?</a:t>
            </a:r>
            <a:endParaRPr lang="en-US" sz="3600" dirty="0"/>
          </a:p>
        </p:txBody>
      </p:sp>
      <p:pic>
        <p:nvPicPr>
          <p:cNvPr id="4" name="Image 1" descr="preencoded.png"/>
          <p:cNvPicPr>
            <a:picLocks noChangeAspect="1"/>
          </p:cNvPicPr>
          <p:nvPr/>
        </p:nvPicPr>
        <p:blipFill>
          <a:blip r:embed="rId4"/>
          <a:stretch>
            <a:fillRect/>
          </a:stretch>
        </p:blipFill>
        <p:spPr>
          <a:xfrm>
            <a:off x="583763" y="3529846"/>
            <a:ext cx="416957" cy="416957"/>
          </a:xfrm>
          <a:prstGeom prst="rect">
            <a:avLst/>
          </a:prstGeom>
        </p:spPr>
      </p:pic>
      <p:sp>
        <p:nvSpPr>
          <p:cNvPr id="5" name="Text 1"/>
          <p:cNvSpPr/>
          <p:nvPr/>
        </p:nvSpPr>
        <p:spPr>
          <a:xfrm>
            <a:off x="1167527" y="3500676"/>
            <a:ext cx="2293620" cy="286583"/>
          </a:xfrm>
          <a:prstGeom prst="rect">
            <a:avLst/>
          </a:prstGeom>
          <a:noFill/>
          <a:ln/>
        </p:spPr>
        <p:txBody>
          <a:bodyPr wrap="none" lIns="0" tIns="0" rIns="0" bIns="0" rtlCol="0" anchor="t"/>
          <a:lstStyle/>
          <a:p>
            <a:pPr marL="0" indent="0" algn="l">
              <a:lnSpc>
                <a:spcPts val="2250"/>
              </a:lnSpc>
              <a:buNone/>
            </a:pPr>
            <a:r>
              <a:rPr lang="en-US" sz="1800" b="1" kern="0" spc="-36" dirty="0">
                <a:solidFill>
                  <a:srgbClr val="272525"/>
                </a:solidFill>
                <a:latin typeface="Petrona Bold" pitchFamily="34" charset="0"/>
                <a:ea typeface="Petrona Bold" pitchFamily="34" charset="-122"/>
                <a:cs typeface="Petrona Bold" pitchFamily="34" charset="-120"/>
              </a:rPr>
              <a:t>Prédiction</a:t>
            </a:r>
            <a:endParaRPr lang="en-US" sz="1800" dirty="0"/>
          </a:p>
        </p:txBody>
      </p:sp>
      <p:sp>
        <p:nvSpPr>
          <p:cNvPr id="6" name="Text 2"/>
          <p:cNvSpPr/>
          <p:nvPr/>
        </p:nvSpPr>
        <p:spPr>
          <a:xfrm>
            <a:off x="1167527" y="3887272"/>
            <a:ext cx="12879110" cy="266819"/>
          </a:xfrm>
          <a:prstGeom prst="rect">
            <a:avLst/>
          </a:prstGeom>
          <a:noFill/>
          <a:ln/>
        </p:spPr>
        <p:txBody>
          <a:bodyPr wrap="none" lIns="0" tIns="0" rIns="0" bIns="0" rtlCol="0" anchor="t"/>
          <a:lstStyle/>
          <a:p>
            <a:pPr marL="0" indent="0" algn="l">
              <a:lnSpc>
                <a:spcPts val="2100"/>
              </a:lnSpc>
              <a:buNone/>
            </a:pPr>
            <a:r>
              <a:rPr lang="en-US" sz="1300" kern="0" spc="-26" dirty="0">
                <a:solidFill>
                  <a:srgbClr val="272525"/>
                </a:solidFill>
                <a:latin typeface="Inter" pitchFamily="34" charset="0"/>
                <a:ea typeface="Inter" pitchFamily="34" charset="-122"/>
                <a:cs typeface="Inter" pitchFamily="34" charset="-120"/>
              </a:rPr>
              <a:t>Évalue la probabilité qu'un client réponde positivement à une offre spécifique</a:t>
            </a:r>
            <a:endParaRPr lang="en-US" sz="1300" dirty="0"/>
          </a:p>
        </p:txBody>
      </p:sp>
      <p:pic>
        <p:nvPicPr>
          <p:cNvPr id="7" name="Image 2" descr="preencoded.png"/>
          <p:cNvPicPr>
            <a:picLocks noChangeAspect="1"/>
          </p:cNvPicPr>
          <p:nvPr/>
        </p:nvPicPr>
        <p:blipFill>
          <a:blip r:embed="rId5"/>
          <a:stretch>
            <a:fillRect/>
          </a:stretch>
        </p:blipFill>
        <p:spPr>
          <a:xfrm>
            <a:off x="583763" y="4683681"/>
            <a:ext cx="416957" cy="416957"/>
          </a:xfrm>
          <a:prstGeom prst="rect">
            <a:avLst/>
          </a:prstGeom>
        </p:spPr>
      </p:pic>
      <p:sp>
        <p:nvSpPr>
          <p:cNvPr id="8" name="Text 3"/>
          <p:cNvSpPr/>
          <p:nvPr/>
        </p:nvSpPr>
        <p:spPr>
          <a:xfrm>
            <a:off x="1167527" y="4654510"/>
            <a:ext cx="2293620" cy="286583"/>
          </a:xfrm>
          <a:prstGeom prst="rect">
            <a:avLst/>
          </a:prstGeom>
          <a:noFill/>
          <a:ln/>
        </p:spPr>
        <p:txBody>
          <a:bodyPr wrap="none" lIns="0" tIns="0" rIns="0" bIns="0" rtlCol="0" anchor="t"/>
          <a:lstStyle/>
          <a:p>
            <a:pPr marL="0" indent="0" algn="l">
              <a:lnSpc>
                <a:spcPts val="2250"/>
              </a:lnSpc>
              <a:buNone/>
            </a:pPr>
            <a:r>
              <a:rPr lang="en-US" sz="1800" b="1" kern="0" spc="-36" dirty="0">
                <a:solidFill>
                  <a:srgbClr val="272525"/>
                </a:solidFill>
                <a:latin typeface="Petrona Bold" pitchFamily="34" charset="0"/>
                <a:ea typeface="Petrona Bold" pitchFamily="34" charset="-122"/>
                <a:cs typeface="Petrona Bold" pitchFamily="34" charset="-120"/>
              </a:rPr>
              <a:t>Quantification</a:t>
            </a:r>
            <a:endParaRPr lang="en-US" sz="1800" dirty="0"/>
          </a:p>
        </p:txBody>
      </p:sp>
      <p:sp>
        <p:nvSpPr>
          <p:cNvPr id="9" name="Text 4"/>
          <p:cNvSpPr/>
          <p:nvPr/>
        </p:nvSpPr>
        <p:spPr>
          <a:xfrm>
            <a:off x="1167527" y="5041106"/>
            <a:ext cx="12879110" cy="266819"/>
          </a:xfrm>
          <a:prstGeom prst="rect">
            <a:avLst/>
          </a:prstGeom>
          <a:noFill/>
          <a:ln/>
        </p:spPr>
        <p:txBody>
          <a:bodyPr wrap="none" lIns="0" tIns="0" rIns="0" bIns="0" rtlCol="0" anchor="t"/>
          <a:lstStyle/>
          <a:p>
            <a:pPr marL="0" indent="0" algn="l">
              <a:lnSpc>
                <a:spcPts val="2100"/>
              </a:lnSpc>
              <a:buNone/>
            </a:pPr>
            <a:r>
              <a:rPr lang="en-US" sz="1300" kern="0" spc="-26" dirty="0">
                <a:solidFill>
                  <a:srgbClr val="272525"/>
                </a:solidFill>
                <a:latin typeface="Inter" pitchFamily="34" charset="0"/>
                <a:ea typeface="Inter" pitchFamily="34" charset="-122"/>
                <a:cs typeface="Inter" pitchFamily="34" charset="-120"/>
              </a:rPr>
              <a:t>Attribue un score numérique reflétant le niveau d'intérêt potentiel</a:t>
            </a:r>
            <a:endParaRPr lang="en-US" sz="1300" dirty="0"/>
          </a:p>
        </p:txBody>
      </p:sp>
      <p:pic>
        <p:nvPicPr>
          <p:cNvPr id="10" name="Image 3" descr="preencoded.png"/>
          <p:cNvPicPr>
            <a:picLocks noChangeAspect="1"/>
          </p:cNvPicPr>
          <p:nvPr/>
        </p:nvPicPr>
        <p:blipFill>
          <a:blip r:embed="rId6"/>
          <a:stretch>
            <a:fillRect/>
          </a:stretch>
        </p:blipFill>
        <p:spPr>
          <a:xfrm>
            <a:off x="583763" y="5837515"/>
            <a:ext cx="416957" cy="416957"/>
          </a:xfrm>
          <a:prstGeom prst="rect">
            <a:avLst/>
          </a:prstGeom>
        </p:spPr>
      </p:pic>
      <p:sp>
        <p:nvSpPr>
          <p:cNvPr id="11" name="Text 5"/>
          <p:cNvSpPr/>
          <p:nvPr/>
        </p:nvSpPr>
        <p:spPr>
          <a:xfrm>
            <a:off x="1167527" y="5808345"/>
            <a:ext cx="2293620" cy="286583"/>
          </a:xfrm>
          <a:prstGeom prst="rect">
            <a:avLst/>
          </a:prstGeom>
          <a:noFill/>
          <a:ln/>
        </p:spPr>
        <p:txBody>
          <a:bodyPr wrap="none" lIns="0" tIns="0" rIns="0" bIns="0" rtlCol="0" anchor="t"/>
          <a:lstStyle/>
          <a:p>
            <a:pPr marL="0" indent="0" algn="l">
              <a:lnSpc>
                <a:spcPts val="2250"/>
              </a:lnSpc>
              <a:buNone/>
            </a:pPr>
            <a:r>
              <a:rPr lang="en-US" sz="1800" b="1" kern="0" spc="-36" dirty="0">
                <a:solidFill>
                  <a:srgbClr val="272525"/>
                </a:solidFill>
                <a:latin typeface="Petrona Bold" pitchFamily="34" charset="0"/>
                <a:ea typeface="Petrona Bold" pitchFamily="34" charset="-122"/>
                <a:cs typeface="Petrona Bold" pitchFamily="34" charset="-120"/>
              </a:rPr>
              <a:t>Segmentation</a:t>
            </a:r>
            <a:endParaRPr lang="en-US" sz="1800" dirty="0"/>
          </a:p>
        </p:txBody>
      </p:sp>
      <p:sp>
        <p:nvSpPr>
          <p:cNvPr id="12" name="Text 6"/>
          <p:cNvSpPr/>
          <p:nvPr/>
        </p:nvSpPr>
        <p:spPr>
          <a:xfrm>
            <a:off x="1167527" y="6194941"/>
            <a:ext cx="12879110" cy="266819"/>
          </a:xfrm>
          <a:prstGeom prst="rect">
            <a:avLst/>
          </a:prstGeom>
          <a:noFill/>
          <a:ln/>
        </p:spPr>
        <p:txBody>
          <a:bodyPr wrap="none" lIns="0" tIns="0" rIns="0" bIns="0" rtlCol="0" anchor="t"/>
          <a:lstStyle/>
          <a:p>
            <a:pPr marL="0" indent="0" algn="l">
              <a:lnSpc>
                <a:spcPts val="2100"/>
              </a:lnSpc>
              <a:buNone/>
            </a:pPr>
            <a:r>
              <a:rPr lang="en-US" sz="1300" kern="0" spc="-26" dirty="0">
                <a:solidFill>
                  <a:srgbClr val="272525"/>
                </a:solidFill>
                <a:latin typeface="Inter" pitchFamily="34" charset="0"/>
                <a:ea typeface="Inter" pitchFamily="34" charset="-122"/>
                <a:cs typeface="Inter" pitchFamily="34" charset="-120"/>
              </a:rPr>
              <a:t>Permet de classer les clients selon leur potentiel de conversion</a:t>
            </a:r>
            <a:endParaRPr lang="en-US" sz="1300" dirty="0"/>
          </a:p>
        </p:txBody>
      </p:sp>
      <p:sp>
        <p:nvSpPr>
          <p:cNvPr id="13" name="Text 7"/>
          <p:cNvSpPr/>
          <p:nvPr/>
        </p:nvSpPr>
        <p:spPr>
          <a:xfrm>
            <a:off x="583763" y="6649403"/>
            <a:ext cx="13462873" cy="533638"/>
          </a:xfrm>
          <a:prstGeom prst="rect">
            <a:avLst/>
          </a:prstGeom>
          <a:noFill/>
          <a:ln/>
        </p:spPr>
        <p:txBody>
          <a:bodyPr wrap="square" lIns="0" tIns="0" rIns="0" bIns="0" rtlCol="0" anchor="t"/>
          <a:lstStyle/>
          <a:p>
            <a:pPr marL="0" indent="0" algn="l">
              <a:lnSpc>
                <a:spcPts val="2100"/>
              </a:lnSpc>
              <a:buNone/>
            </a:pPr>
            <a:r>
              <a:rPr lang="en-US" sz="1300" kern="0" spc="-26" dirty="0">
                <a:solidFill>
                  <a:srgbClr val="272525"/>
                </a:solidFill>
                <a:latin typeface="Inter" pitchFamily="34" charset="0"/>
                <a:ea typeface="Inter" pitchFamily="34" charset="-122"/>
                <a:cs typeface="Inter" pitchFamily="34" charset="-120"/>
              </a:rPr>
              <a:t>Le score d'appétence est un indicateur prédictif qui évalue la probabilité qu'un prospect ou client s'intéresse à un produit ou service spécifique. Contrairement aux approches traditionnelles basées sur l'intuition, cette méthode s'appuie sur des modèles statistiques et d'apprentissage automatique pour quantifier objectivement la propension à l'achat.</a:t>
            </a:r>
            <a:endParaRPr lang="en-US" sz="1300" dirty="0"/>
          </a:p>
        </p:txBody>
      </p:sp>
      <p:sp>
        <p:nvSpPr>
          <p:cNvPr id="14" name="Text 8"/>
          <p:cNvSpPr/>
          <p:nvPr/>
        </p:nvSpPr>
        <p:spPr>
          <a:xfrm>
            <a:off x="583763" y="7370683"/>
            <a:ext cx="13462873" cy="266819"/>
          </a:xfrm>
          <a:prstGeom prst="rect">
            <a:avLst/>
          </a:prstGeom>
          <a:noFill/>
          <a:ln/>
        </p:spPr>
        <p:txBody>
          <a:bodyPr wrap="none" lIns="0" tIns="0" rIns="0" bIns="0" rtlCol="0" anchor="t"/>
          <a:lstStyle/>
          <a:p>
            <a:pPr marL="0" indent="0" algn="l">
              <a:lnSpc>
                <a:spcPts val="2100"/>
              </a:lnSpc>
              <a:buNone/>
            </a:pPr>
            <a:r>
              <a:rPr lang="en-US" sz="1300" kern="0" spc="-26" dirty="0">
                <a:solidFill>
                  <a:srgbClr val="272525"/>
                </a:solidFill>
                <a:latin typeface="Inter" pitchFamily="34" charset="0"/>
                <a:ea typeface="Inter" pitchFamily="34" charset="-122"/>
                <a:cs typeface="Inter" pitchFamily="34" charset="-120"/>
              </a:rPr>
              <a:t>En attribuant un score à chaque client, vous obtenez une hiérarchisation précise qui oriente efficacement vos actions marketing et commerciales.</a:t>
            </a:r>
            <a:endParaRPr lang="en-US" sz="1300" dirty="0"/>
          </a:p>
        </p:txBody>
      </p:sp>
      <p:sp>
        <p:nvSpPr>
          <p:cNvPr id="16" name="Rectangle : coins arrondis 15">
            <a:extLst>
              <a:ext uri="{FF2B5EF4-FFF2-40B4-BE49-F238E27FC236}">
                <a16:creationId xmlns:a16="http://schemas.microsoft.com/office/drawing/2014/main" id="{E8159353-7426-70E3-AC65-A01BD8FC666C}"/>
              </a:ext>
            </a:extLst>
          </p:cNvPr>
          <p:cNvSpPr/>
          <p:nvPr/>
        </p:nvSpPr>
        <p:spPr>
          <a:xfrm>
            <a:off x="12640962" y="7653138"/>
            <a:ext cx="1890584" cy="480887"/>
          </a:xfrm>
          <a:prstGeom prst="roundRect">
            <a:avLst/>
          </a:prstGeom>
          <a:solidFill>
            <a:srgbClr val="FDFA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83300" y="801767"/>
            <a:ext cx="9551670" cy="671155"/>
          </a:xfrm>
          <a:prstGeom prst="rect">
            <a:avLst/>
          </a:prstGeom>
          <a:noFill/>
          <a:ln/>
        </p:spPr>
        <p:txBody>
          <a:bodyPr wrap="none" lIns="0" tIns="0" rIns="0" bIns="0" rtlCol="0" anchor="t"/>
          <a:lstStyle/>
          <a:p>
            <a:pPr marL="0" indent="0" algn="l">
              <a:lnSpc>
                <a:spcPts val="5250"/>
              </a:lnSpc>
              <a:buNone/>
            </a:pPr>
            <a:r>
              <a:rPr lang="en-US" sz="4200" b="1" kern="0" spc="-85" dirty="0">
                <a:solidFill>
                  <a:srgbClr val="F95F88"/>
                </a:solidFill>
                <a:latin typeface="Petrona Bold" pitchFamily="34" charset="0"/>
                <a:ea typeface="Petrona Bold" pitchFamily="34" charset="-122"/>
                <a:cs typeface="Petrona Bold" pitchFamily="34" charset="-120"/>
              </a:rPr>
              <a:t>Pourquoi Utiliser un Score d'Appétence ?</a:t>
            </a:r>
            <a:endParaRPr lang="en-US" sz="4200" dirty="0"/>
          </a:p>
        </p:txBody>
      </p:sp>
      <p:pic>
        <p:nvPicPr>
          <p:cNvPr id="3" name="Image 0" descr="preencoded.png"/>
          <p:cNvPicPr>
            <a:picLocks noChangeAspect="1"/>
          </p:cNvPicPr>
          <p:nvPr/>
        </p:nvPicPr>
        <p:blipFill>
          <a:blip r:embed="rId3"/>
          <a:stretch>
            <a:fillRect/>
          </a:stretch>
        </p:blipFill>
        <p:spPr>
          <a:xfrm>
            <a:off x="2904887" y="1863328"/>
            <a:ext cx="2188488" cy="1155263"/>
          </a:xfrm>
          <a:prstGeom prst="rect">
            <a:avLst/>
          </a:prstGeom>
        </p:spPr>
      </p:pic>
      <p:pic>
        <p:nvPicPr>
          <p:cNvPr id="4" name="Image 1" descr="preencoded.png"/>
          <p:cNvPicPr>
            <a:picLocks noChangeAspect="1"/>
          </p:cNvPicPr>
          <p:nvPr/>
        </p:nvPicPr>
        <p:blipFill>
          <a:blip r:embed="rId4"/>
          <a:stretch>
            <a:fillRect/>
          </a:stretch>
        </p:blipFill>
        <p:spPr>
          <a:xfrm>
            <a:off x="3861792" y="2413278"/>
            <a:ext cx="274558" cy="343138"/>
          </a:xfrm>
          <a:prstGeom prst="rect">
            <a:avLst/>
          </a:prstGeom>
        </p:spPr>
      </p:pic>
      <p:sp>
        <p:nvSpPr>
          <p:cNvPr id="5" name="Text 1"/>
          <p:cNvSpPr/>
          <p:nvPr/>
        </p:nvSpPr>
        <p:spPr>
          <a:xfrm>
            <a:off x="5288518" y="2058472"/>
            <a:ext cx="2684740" cy="335518"/>
          </a:xfrm>
          <a:prstGeom prst="rect">
            <a:avLst/>
          </a:prstGeom>
          <a:noFill/>
          <a:ln/>
        </p:spPr>
        <p:txBody>
          <a:bodyPr wrap="none" lIns="0" tIns="0" rIns="0" bIns="0" rtlCol="0" anchor="t"/>
          <a:lstStyle/>
          <a:p>
            <a:pPr marL="0" indent="0" algn="l">
              <a:lnSpc>
                <a:spcPts val="2600"/>
              </a:lnSpc>
              <a:buNone/>
            </a:pPr>
            <a:r>
              <a:rPr lang="en-US" sz="2100" b="1" kern="0" spc="-42" dirty="0">
                <a:solidFill>
                  <a:srgbClr val="272525"/>
                </a:solidFill>
                <a:latin typeface="Petrona Bold" pitchFamily="34" charset="0"/>
                <a:ea typeface="Petrona Bold" pitchFamily="34" charset="-122"/>
                <a:cs typeface="Petrona Bold" pitchFamily="34" charset="-120"/>
              </a:rPr>
              <a:t>ROI Optimisé</a:t>
            </a:r>
            <a:endParaRPr lang="en-US" sz="2100" dirty="0"/>
          </a:p>
        </p:txBody>
      </p:sp>
      <p:sp>
        <p:nvSpPr>
          <p:cNvPr id="6" name="Text 2"/>
          <p:cNvSpPr/>
          <p:nvPr/>
        </p:nvSpPr>
        <p:spPr>
          <a:xfrm>
            <a:off x="5288518" y="2511028"/>
            <a:ext cx="4664273" cy="312420"/>
          </a:xfrm>
          <a:prstGeom prst="rect">
            <a:avLst/>
          </a:prstGeom>
          <a:noFill/>
          <a:ln/>
        </p:spPr>
        <p:txBody>
          <a:bodyPr wrap="none" lIns="0" tIns="0" rIns="0" bIns="0" rtlCol="0" anchor="t"/>
          <a:lstStyle/>
          <a:p>
            <a:pPr marL="0" indent="0" algn="l">
              <a:lnSpc>
                <a:spcPts val="2450"/>
              </a:lnSpc>
              <a:buNone/>
            </a:pPr>
            <a:r>
              <a:rPr lang="en-US" sz="1500" kern="0" spc="-31" dirty="0">
                <a:solidFill>
                  <a:srgbClr val="272525"/>
                </a:solidFill>
                <a:latin typeface="Inter" pitchFamily="34" charset="0"/>
                <a:ea typeface="Inter" pitchFamily="34" charset="-122"/>
                <a:cs typeface="Inter" pitchFamily="34" charset="-120"/>
              </a:rPr>
              <a:t>Maximisation du retour sur investissement marketing</a:t>
            </a:r>
            <a:endParaRPr lang="en-US" sz="1500" dirty="0"/>
          </a:p>
        </p:txBody>
      </p:sp>
      <p:sp>
        <p:nvSpPr>
          <p:cNvPr id="7" name="Shape 3"/>
          <p:cNvSpPr/>
          <p:nvPr/>
        </p:nvSpPr>
        <p:spPr>
          <a:xfrm>
            <a:off x="5142071" y="3033355"/>
            <a:ext cx="8756333" cy="11430"/>
          </a:xfrm>
          <a:prstGeom prst="roundRect">
            <a:avLst>
              <a:gd name="adj" fmla="val 717472"/>
            </a:avLst>
          </a:prstGeom>
          <a:solidFill>
            <a:srgbClr val="C6BDDA"/>
          </a:solidFill>
          <a:ln/>
        </p:spPr>
      </p:sp>
      <p:pic>
        <p:nvPicPr>
          <p:cNvPr id="8" name="Image 2" descr="preencoded.png"/>
          <p:cNvPicPr>
            <a:picLocks noChangeAspect="1"/>
          </p:cNvPicPr>
          <p:nvPr/>
        </p:nvPicPr>
        <p:blipFill>
          <a:blip r:embed="rId5"/>
          <a:stretch>
            <a:fillRect/>
          </a:stretch>
        </p:blipFill>
        <p:spPr>
          <a:xfrm>
            <a:off x="1810703" y="3067288"/>
            <a:ext cx="4376976" cy="1155263"/>
          </a:xfrm>
          <a:prstGeom prst="rect">
            <a:avLst/>
          </a:prstGeom>
        </p:spPr>
      </p:pic>
      <p:pic>
        <p:nvPicPr>
          <p:cNvPr id="9" name="Image 3" descr="preencoded.png"/>
          <p:cNvPicPr>
            <a:picLocks noChangeAspect="1"/>
          </p:cNvPicPr>
          <p:nvPr/>
        </p:nvPicPr>
        <p:blipFill>
          <a:blip r:embed="rId6"/>
          <a:stretch>
            <a:fillRect/>
          </a:stretch>
        </p:blipFill>
        <p:spPr>
          <a:xfrm>
            <a:off x="3861911" y="3473291"/>
            <a:ext cx="274558" cy="343138"/>
          </a:xfrm>
          <a:prstGeom prst="rect">
            <a:avLst/>
          </a:prstGeom>
        </p:spPr>
      </p:pic>
      <p:sp>
        <p:nvSpPr>
          <p:cNvPr id="10" name="Text 4"/>
          <p:cNvSpPr/>
          <p:nvPr/>
        </p:nvSpPr>
        <p:spPr>
          <a:xfrm>
            <a:off x="6382822" y="3262432"/>
            <a:ext cx="2684740" cy="335518"/>
          </a:xfrm>
          <a:prstGeom prst="rect">
            <a:avLst/>
          </a:prstGeom>
          <a:noFill/>
          <a:ln/>
        </p:spPr>
        <p:txBody>
          <a:bodyPr wrap="none" lIns="0" tIns="0" rIns="0" bIns="0" rtlCol="0" anchor="t"/>
          <a:lstStyle/>
          <a:p>
            <a:pPr marL="0" indent="0" algn="l">
              <a:lnSpc>
                <a:spcPts val="2600"/>
              </a:lnSpc>
              <a:buNone/>
            </a:pPr>
            <a:r>
              <a:rPr lang="en-US" sz="2100" b="1" kern="0" spc="-42" dirty="0">
                <a:solidFill>
                  <a:srgbClr val="272525"/>
                </a:solidFill>
                <a:latin typeface="Petrona Bold" pitchFamily="34" charset="0"/>
                <a:ea typeface="Petrona Bold" pitchFamily="34" charset="-122"/>
                <a:cs typeface="Petrona Bold" pitchFamily="34" charset="-120"/>
              </a:rPr>
              <a:t>Satisfaction Client</a:t>
            </a:r>
            <a:endParaRPr lang="en-US" sz="2100" dirty="0"/>
          </a:p>
        </p:txBody>
      </p:sp>
      <p:sp>
        <p:nvSpPr>
          <p:cNvPr id="11" name="Text 5"/>
          <p:cNvSpPr/>
          <p:nvPr/>
        </p:nvSpPr>
        <p:spPr>
          <a:xfrm>
            <a:off x="6382822" y="3714988"/>
            <a:ext cx="4122063" cy="312420"/>
          </a:xfrm>
          <a:prstGeom prst="rect">
            <a:avLst/>
          </a:prstGeom>
          <a:noFill/>
          <a:ln/>
        </p:spPr>
        <p:txBody>
          <a:bodyPr wrap="none" lIns="0" tIns="0" rIns="0" bIns="0" rtlCol="0" anchor="t"/>
          <a:lstStyle/>
          <a:p>
            <a:pPr marL="0" indent="0" algn="l">
              <a:lnSpc>
                <a:spcPts val="2450"/>
              </a:lnSpc>
              <a:buNone/>
            </a:pPr>
            <a:r>
              <a:rPr lang="en-US" sz="1500" kern="0" spc="-31" dirty="0">
                <a:solidFill>
                  <a:srgbClr val="272525"/>
                </a:solidFill>
                <a:latin typeface="Inter" pitchFamily="34" charset="0"/>
                <a:ea typeface="Inter" pitchFamily="34" charset="-122"/>
                <a:cs typeface="Inter" pitchFamily="34" charset="-120"/>
              </a:rPr>
              <a:t>Interactions plus pertinentes et personnalisées</a:t>
            </a:r>
            <a:endParaRPr lang="en-US" sz="1500" dirty="0"/>
          </a:p>
        </p:txBody>
      </p:sp>
      <p:sp>
        <p:nvSpPr>
          <p:cNvPr id="12" name="Shape 6"/>
          <p:cNvSpPr/>
          <p:nvPr/>
        </p:nvSpPr>
        <p:spPr>
          <a:xfrm>
            <a:off x="6236375" y="4237315"/>
            <a:ext cx="7662029" cy="11430"/>
          </a:xfrm>
          <a:prstGeom prst="roundRect">
            <a:avLst>
              <a:gd name="adj" fmla="val 717472"/>
            </a:avLst>
          </a:prstGeom>
          <a:solidFill>
            <a:srgbClr val="C6BDDA"/>
          </a:solidFill>
          <a:ln/>
        </p:spPr>
      </p:sp>
      <p:pic>
        <p:nvPicPr>
          <p:cNvPr id="13" name="Image 4" descr="preencoded.png"/>
          <p:cNvPicPr>
            <a:picLocks noChangeAspect="1"/>
          </p:cNvPicPr>
          <p:nvPr/>
        </p:nvPicPr>
        <p:blipFill>
          <a:blip r:embed="rId7"/>
          <a:stretch>
            <a:fillRect/>
          </a:stretch>
        </p:blipFill>
        <p:spPr>
          <a:xfrm>
            <a:off x="716399" y="4271248"/>
            <a:ext cx="6565463" cy="1155263"/>
          </a:xfrm>
          <a:prstGeom prst="rect">
            <a:avLst/>
          </a:prstGeom>
        </p:spPr>
      </p:pic>
      <p:pic>
        <p:nvPicPr>
          <p:cNvPr id="14" name="Image 5" descr="preencoded.png"/>
          <p:cNvPicPr>
            <a:picLocks noChangeAspect="1"/>
          </p:cNvPicPr>
          <p:nvPr/>
        </p:nvPicPr>
        <p:blipFill>
          <a:blip r:embed="rId8"/>
          <a:stretch>
            <a:fillRect/>
          </a:stretch>
        </p:blipFill>
        <p:spPr>
          <a:xfrm>
            <a:off x="3861792" y="4677251"/>
            <a:ext cx="274558" cy="343138"/>
          </a:xfrm>
          <a:prstGeom prst="rect">
            <a:avLst/>
          </a:prstGeom>
        </p:spPr>
      </p:pic>
      <p:sp>
        <p:nvSpPr>
          <p:cNvPr id="15" name="Text 7"/>
          <p:cNvSpPr/>
          <p:nvPr/>
        </p:nvSpPr>
        <p:spPr>
          <a:xfrm>
            <a:off x="7477006" y="4466392"/>
            <a:ext cx="2684740" cy="335518"/>
          </a:xfrm>
          <a:prstGeom prst="rect">
            <a:avLst/>
          </a:prstGeom>
          <a:noFill/>
          <a:ln/>
        </p:spPr>
        <p:txBody>
          <a:bodyPr wrap="none" lIns="0" tIns="0" rIns="0" bIns="0" rtlCol="0" anchor="t"/>
          <a:lstStyle/>
          <a:p>
            <a:pPr marL="0" indent="0" algn="l">
              <a:lnSpc>
                <a:spcPts val="2600"/>
              </a:lnSpc>
              <a:buNone/>
            </a:pPr>
            <a:r>
              <a:rPr lang="en-US" sz="2100" b="1" kern="0" spc="-42" dirty="0">
                <a:solidFill>
                  <a:srgbClr val="272525"/>
                </a:solidFill>
                <a:latin typeface="Petrona Bold" pitchFamily="34" charset="0"/>
                <a:ea typeface="Petrona Bold" pitchFamily="34" charset="-122"/>
                <a:cs typeface="Petrona Bold" pitchFamily="34" charset="-120"/>
              </a:rPr>
              <a:t>Ciblage Précis</a:t>
            </a:r>
            <a:endParaRPr lang="en-US" sz="2100" dirty="0"/>
          </a:p>
        </p:txBody>
      </p:sp>
      <p:sp>
        <p:nvSpPr>
          <p:cNvPr id="16" name="Text 8"/>
          <p:cNvSpPr/>
          <p:nvPr/>
        </p:nvSpPr>
        <p:spPr>
          <a:xfrm>
            <a:off x="7477006" y="4918948"/>
            <a:ext cx="5564267" cy="312420"/>
          </a:xfrm>
          <a:prstGeom prst="rect">
            <a:avLst/>
          </a:prstGeom>
          <a:noFill/>
          <a:ln/>
        </p:spPr>
        <p:txBody>
          <a:bodyPr wrap="none" lIns="0" tIns="0" rIns="0" bIns="0" rtlCol="0" anchor="t"/>
          <a:lstStyle/>
          <a:p>
            <a:pPr marL="0" indent="0" algn="l">
              <a:lnSpc>
                <a:spcPts val="2450"/>
              </a:lnSpc>
              <a:buNone/>
            </a:pPr>
            <a:r>
              <a:rPr lang="en-US" sz="1500" kern="0" spc="-31" dirty="0">
                <a:solidFill>
                  <a:srgbClr val="272525"/>
                </a:solidFill>
                <a:latin typeface="Inter" pitchFamily="34" charset="0"/>
                <a:ea typeface="Inter" pitchFamily="34" charset="-122"/>
                <a:cs typeface="Inter" pitchFamily="34" charset="-120"/>
              </a:rPr>
              <a:t>Concentration des ressources sur les prospects à fort potentiel</a:t>
            </a:r>
            <a:endParaRPr lang="en-US" sz="1500" dirty="0"/>
          </a:p>
        </p:txBody>
      </p:sp>
      <p:sp>
        <p:nvSpPr>
          <p:cNvPr id="17" name="Text 9"/>
          <p:cNvSpPr/>
          <p:nvPr/>
        </p:nvSpPr>
        <p:spPr>
          <a:xfrm>
            <a:off x="683300" y="5646063"/>
            <a:ext cx="13263801" cy="624840"/>
          </a:xfrm>
          <a:prstGeom prst="rect">
            <a:avLst/>
          </a:prstGeom>
          <a:noFill/>
          <a:ln/>
        </p:spPr>
        <p:txBody>
          <a:bodyPr wrap="square" lIns="0" tIns="0" rIns="0" bIns="0" rtlCol="0" anchor="t"/>
          <a:lstStyle/>
          <a:p>
            <a:pPr marL="0" indent="0" algn="l">
              <a:lnSpc>
                <a:spcPts val="2450"/>
              </a:lnSpc>
              <a:buNone/>
            </a:pPr>
            <a:r>
              <a:rPr lang="en-US" sz="1500" kern="0" spc="-31" dirty="0">
                <a:solidFill>
                  <a:srgbClr val="272525"/>
                </a:solidFill>
                <a:latin typeface="Inter" pitchFamily="34" charset="0"/>
                <a:ea typeface="Inter" pitchFamily="34" charset="-122"/>
                <a:cs typeface="Inter" pitchFamily="34" charset="-120"/>
              </a:rPr>
              <a:t>L'implémentation d'un score d'appétence transforme radicalement l'efficacité de vos campagnes. En priorisant les clients à fort potentiel, vous réduisez considérablement le coût d'acquisition et augmentez votre taux de conversion, parfois jusqu'à 30% selon les études sectorielles.</a:t>
            </a:r>
            <a:endParaRPr lang="en-US" sz="1500" dirty="0"/>
          </a:p>
        </p:txBody>
      </p:sp>
      <p:sp>
        <p:nvSpPr>
          <p:cNvPr id="18" name="Text 10"/>
          <p:cNvSpPr/>
          <p:nvPr/>
        </p:nvSpPr>
        <p:spPr>
          <a:xfrm>
            <a:off x="683300" y="6490454"/>
            <a:ext cx="13263801" cy="937260"/>
          </a:xfrm>
          <a:prstGeom prst="rect">
            <a:avLst/>
          </a:prstGeom>
          <a:noFill/>
          <a:ln/>
        </p:spPr>
        <p:txBody>
          <a:bodyPr wrap="square" lIns="0" tIns="0" rIns="0" bIns="0" rtlCol="0" anchor="t"/>
          <a:lstStyle/>
          <a:p>
            <a:pPr marL="0" indent="0" algn="l">
              <a:lnSpc>
                <a:spcPts val="2450"/>
              </a:lnSpc>
              <a:buNone/>
            </a:pPr>
            <a:r>
              <a:rPr lang="en-US" sz="1500" kern="0" spc="-31" dirty="0">
                <a:solidFill>
                  <a:srgbClr val="272525"/>
                </a:solidFill>
                <a:latin typeface="Inter" pitchFamily="34" charset="0"/>
                <a:ea typeface="Inter" pitchFamily="34" charset="-122"/>
                <a:cs typeface="Inter" pitchFamily="34" charset="-120"/>
              </a:rPr>
              <a:t>Cette approche data-driven permet également d'allouer plus judicieusement vos ressources commerciales et d'améliorer l'expérience client en évitant les sollicitations inappropriées. Les équipes commerciales rapportent une productivité accrue grâce à des leads qualifiés et des argumentaires adaptés au niveau d'intérêt détecté.</a:t>
            </a:r>
            <a:endParaRPr lang="en-US" sz="1500" dirty="0"/>
          </a:p>
        </p:txBody>
      </p:sp>
      <p:sp>
        <p:nvSpPr>
          <p:cNvPr id="20" name="Rectangle : coins arrondis 19">
            <a:extLst>
              <a:ext uri="{FF2B5EF4-FFF2-40B4-BE49-F238E27FC236}">
                <a16:creationId xmlns:a16="http://schemas.microsoft.com/office/drawing/2014/main" id="{990F565F-DC53-225A-9845-6489824DCE33}"/>
              </a:ext>
            </a:extLst>
          </p:cNvPr>
          <p:cNvSpPr/>
          <p:nvPr/>
        </p:nvSpPr>
        <p:spPr>
          <a:xfrm>
            <a:off x="12640962" y="7653138"/>
            <a:ext cx="1890584" cy="480887"/>
          </a:xfrm>
          <a:prstGeom prst="roundRect">
            <a:avLst/>
          </a:prstGeom>
          <a:solidFill>
            <a:srgbClr val="FDFA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55903" y="436721"/>
            <a:ext cx="4783812" cy="546021"/>
          </a:xfrm>
          <a:prstGeom prst="rect">
            <a:avLst/>
          </a:prstGeom>
          <a:noFill/>
          <a:ln/>
        </p:spPr>
        <p:txBody>
          <a:bodyPr wrap="none" lIns="0" tIns="0" rIns="0" bIns="0" rtlCol="0" anchor="t"/>
          <a:lstStyle/>
          <a:p>
            <a:pPr marL="0" indent="0" algn="l">
              <a:lnSpc>
                <a:spcPts val="4250"/>
              </a:lnSpc>
              <a:buNone/>
            </a:pPr>
            <a:r>
              <a:rPr lang="en-US" sz="3400" b="1" kern="0" spc="-69" dirty="0">
                <a:solidFill>
                  <a:srgbClr val="F95F88"/>
                </a:solidFill>
                <a:latin typeface="Petrona Bold" pitchFamily="34" charset="0"/>
                <a:ea typeface="Petrona Bold" pitchFamily="34" charset="-122"/>
                <a:cs typeface="Petrona Bold" pitchFamily="34" charset="-120"/>
              </a:rPr>
              <a:t>Les Données Nécessaires</a:t>
            </a:r>
            <a:endParaRPr lang="en-US" sz="3400" dirty="0"/>
          </a:p>
        </p:txBody>
      </p:sp>
      <p:pic>
        <p:nvPicPr>
          <p:cNvPr id="3" name="Image 0" descr="preencoded.png"/>
          <p:cNvPicPr>
            <a:picLocks noChangeAspect="1"/>
          </p:cNvPicPr>
          <p:nvPr/>
        </p:nvPicPr>
        <p:blipFill>
          <a:blip r:embed="rId3"/>
          <a:stretch>
            <a:fillRect/>
          </a:stretch>
        </p:blipFill>
        <p:spPr>
          <a:xfrm>
            <a:off x="3259574" y="2364700"/>
            <a:ext cx="8111133" cy="8111133"/>
          </a:xfrm>
          <a:prstGeom prst="rect">
            <a:avLst/>
          </a:prstGeom>
        </p:spPr>
      </p:pic>
      <p:pic>
        <p:nvPicPr>
          <p:cNvPr id="4" name="Image 1" descr="preencoded.png"/>
          <p:cNvPicPr>
            <a:picLocks noChangeAspect="1"/>
          </p:cNvPicPr>
          <p:nvPr/>
        </p:nvPicPr>
        <p:blipFill>
          <a:blip r:embed="rId4"/>
          <a:stretch>
            <a:fillRect/>
          </a:stretch>
        </p:blipFill>
        <p:spPr>
          <a:xfrm>
            <a:off x="4370963" y="5088553"/>
            <a:ext cx="268010" cy="335042"/>
          </a:xfrm>
          <a:prstGeom prst="rect">
            <a:avLst/>
          </a:prstGeom>
        </p:spPr>
      </p:pic>
      <p:pic>
        <p:nvPicPr>
          <p:cNvPr id="5" name="Image 2" descr="preencoded.png"/>
          <p:cNvPicPr>
            <a:picLocks noChangeAspect="1"/>
          </p:cNvPicPr>
          <p:nvPr/>
        </p:nvPicPr>
        <p:blipFill>
          <a:blip r:embed="rId5"/>
          <a:stretch>
            <a:fillRect/>
          </a:stretch>
        </p:blipFill>
        <p:spPr>
          <a:xfrm>
            <a:off x="3259574" y="2364700"/>
            <a:ext cx="8111133" cy="8111133"/>
          </a:xfrm>
          <a:prstGeom prst="rect">
            <a:avLst/>
          </a:prstGeom>
        </p:spPr>
      </p:pic>
      <p:pic>
        <p:nvPicPr>
          <p:cNvPr id="6" name="Image 3" descr="preencoded.png"/>
          <p:cNvPicPr>
            <a:picLocks noChangeAspect="1"/>
          </p:cNvPicPr>
          <p:nvPr/>
        </p:nvPicPr>
        <p:blipFill>
          <a:blip r:embed="rId6"/>
          <a:stretch>
            <a:fillRect/>
          </a:stretch>
        </p:blipFill>
        <p:spPr>
          <a:xfrm>
            <a:off x="6017002" y="3442514"/>
            <a:ext cx="268010" cy="335042"/>
          </a:xfrm>
          <a:prstGeom prst="rect">
            <a:avLst/>
          </a:prstGeom>
        </p:spPr>
      </p:pic>
      <p:pic>
        <p:nvPicPr>
          <p:cNvPr id="7" name="Image 4" descr="preencoded.png"/>
          <p:cNvPicPr>
            <a:picLocks noChangeAspect="1"/>
          </p:cNvPicPr>
          <p:nvPr/>
        </p:nvPicPr>
        <p:blipFill>
          <a:blip r:embed="rId7"/>
          <a:stretch>
            <a:fillRect/>
          </a:stretch>
        </p:blipFill>
        <p:spPr>
          <a:xfrm>
            <a:off x="3259574" y="2364700"/>
            <a:ext cx="8111133" cy="8111133"/>
          </a:xfrm>
          <a:prstGeom prst="rect">
            <a:avLst/>
          </a:prstGeom>
        </p:spPr>
      </p:pic>
      <p:pic>
        <p:nvPicPr>
          <p:cNvPr id="8" name="Image 5" descr="preencoded.png"/>
          <p:cNvPicPr>
            <a:picLocks noChangeAspect="1"/>
          </p:cNvPicPr>
          <p:nvPr/>
        </p:nvPicPr>
        <p:blipFill>
          <a:blip r:embed="rId8"/>
          <a:stretch>
            <a:fillRect/>
          </a:stretch>
        </p:blipFill>
        <p:spPr>
          <a:xfrm>
            <a:off x="8345031" y="3442514"/>
            <a:ext cx="268010" cy="335042"/>
          </a:xfrm>
          <a:prstGeom prst="rect">
            <a:avLst/>
          </a:prstGeom>
        </p:spPr>
      </p:pic>
      <p:pic>
        <p:nvPicPr>
          <p:cNvPr id="9" name="Image 6" descr="preencoded.png"/>
          <p:cNvPicPr>
            <a:picLocks noChangeAspect="1"/>
          </p:cNvPicPr>
          <p:nvPr/>
        </p:nvPicPr>
        <p:blipFill>
          <a:blip r:embed="rId9"/>
          <a:stretch>
            <a:fillRect/>
          </a:stretch>
        </p:blipFill>
        <p:spPr>
          <a:xfrm>
            <a:off x="3259574" y="2364700"/>
            <a:ext cx="8111133" cy="8111133"/>
          </a:xfrm>
          <a:prstGeom prst="rect">
            <a:avLst/>
          </a:prstGeom>
        </p:spPr>
      </p:pic>
      <p:pic>
        <p:nvPicPr>
          <p:cNvPr id="10" name="Image 7" descr="preencoded.png"/>
          <p:cNvPicPr>
            <a:picLocks noChangeAspect="1"/>
          </p:cNvPicPr>
          <p:nvPr/>
        </p:nvPicPr>
        <p:blipFill>
          <a:blip r:embed="rId10"/>
          <a:stretch>
            <a:fillRect/>
          </a:stretch>
        </p:blipFill>
        <p:spPr>
          <a:xfrm>
            <a:off x="9991070" y="5088553"/>
            <a:ext cx="268010" cy="335042"/>
          </a:xfrm>
          <a:prstGeom prst="rect">
            <a:avLst/>
          </a:prstGeom>
        </p:spPr>
      </p:pic>
      <p:sp>
        <p:nvSpPr>
          <p:cNvPr id="11" name="Text 1"/>
          <p:cNvSpPr/>
          <p:nvPr/>
        </p:nvSpPr>
        <p:spPr>
          <a:xfrm>
            <a:off x="555903" y="6598801"/>
            <a:ext cx="13518594" cy="508159"/>
          </a:xfrm>
          <a:prstGeom prst="rect">
            <a:avLst/>
          </a:prstGeom>
          <a:noFill/>
          <a:ln/>
        </p:spPr>
        <p:txBody>
          <a:bodyPr wrap="square" lIns="0" tIns="0" rIns="0" bIns="0" rtlCol="0" anchor="t"/>
          <a:lstStyle/>
          <a:p>
            <a:pPr marL="0" indent="0" algn="l">
              <a:lnSpc>
                <a:spcPts val="2000"/>
              </a:lnSpc>
              <a:buNone/>
            </a:pPr>
            <a:r>
              <a:rPr lang="en-US" sz="1250" kern="0" spc="-25" dirty="0">
                <a:solidFill>
                  <a:srgbClr val="272525"/>
                </a:solidFill>
                <a:latin typeface="Inter" pitchFamily="34" charset="0"/>
                <a:ea typeface="Inter" pitchFamily="34" charset="-122"/>
                <a:cs typeface="Inter" pitchFamily="34" charset="-120"/>
              </a:rPr>
              <a:t>La qualité d'un score d'appétence dépend directement de la richesse et de la pertinence des données exploitées. L'idéal est de combiner plusieurs sources pour obtenir une vision à 360° du client.</a:t>
            </a:r>
            <a:endParaRPr lang="en-US" sz="1250" dirty="0"/>
          </a:p>
        </p:txBody>
      </p:sp>
      <p:sp>
        <p:nvSpPr>
          <p:cNvPr id="12" name="Text 2"/>
          <p:cNvSpPr/>
          <p:nvPr/>
        </p:nvSpPr>
        <p:spPr>
          <a:xfrm>
            <a:off x="555903" y="7285553"/>
            <a:ext cx="13518594" cy="508159"/>
          </a:xfrm>
          <a:prstGeom prst="rect">
            <a:avLst/>
          </a:prstGeom>
          <a:noFill/>
          <a:ln/>
        </p:spPr>
        <p:txBody>
          <a:bodyPr wrap="square" lIns="0" tIns="0" rIns="0" bIns="0" rtlCol="0" anchor="t"/>
          <a:lstStyle/>
          <a:p>
            <a:pPr marL="0" indent="0" algn="l">
              <a:lnSpc>
                <a:spcPts val="2000"/>
              </a:lnSpc>
              <a:buNone/>
            </a:pPr>
            <a:r>
              <a:rPr lang="en-US" sz="1250" kern="0" spc="-25" dirty="0">
                <a:solidFill>
                  <a:srgbClr val="272525"/>
                </a:solidFill>
                <a:latin typeface="Inter" pitchFamily="34" charset="0"/>
                <a:ea typeface="Inter" pitchFamily="34" charset="-122"/>
                <a:cs typeface="Inter" pitchFamily="34" charset="-120"/>
              </a:rPr>
              <a:t>La valeur prédictive de ces données varie selon votre secteur d'activité. Par exemple, dans le retail, les données transactionnelles récentes sont souvent les plus déterminantes, tandis que dans l'assurance, les données sociodémographiques jouent un rôle prépondérant. Une analyse préliminaire permet d'identifier les variables les plus corrélées à vos objectifs commerciaux.</a:t>
            </a:r>
            <a:endParaRPr lang="en-US" sz="1250" dirty="0"/>
          </a:p>
        </p:txBody>
      </p:sp>
      <p:sp>
        <p:nvSpPr>
          <p:cNvPr id="13" name="Text 3"/>
          <p:cNvSpPr/>
          <p:nvPr/>
        </p:nvSpPr>
        <p:spPr>
          <a:xfrm>
            <a:off x="638294" y="2617351"/>
            <a:ext cx="3036094" cy="272891"/>
          </a:xfrm>
          <a:prstGeom prst="rect">
            <a:avLst/>
          </a:prstGeom>
          <a:noFill/>
          <a:ln/>
        </p:spPr>
        <p:txBody>
          <a:bodyPr wrap="none" lIns="0" tIns="0" rIns="0" bIns="0" rtlCol="0" anchor="t"/>
          <a:lstStyle/>
          <a:p>
            <a:pPr marL="0" indent="0" algn="ctr">
              <a:lnSpc>
                <a:spcPts val="2100"/>
              </a:lnSpc>
              <a:buNone/>
            </a:pPr>
            <a:r>
              <a:rPr lang="en-US" sz="1700" b="1" kern="0" spc="-34" dirty="0">
                <a:solidFill>
                  <a:srgbClr val="F95F88"/>
                </a:solidFill>
                <a:latin typeface="Petrona Bold" pitchFamily="34" charset="0"/>
                <a:ea typeface="Petrona Bold" pitchFamily="34" charset="-122"/>
                <a:cs typeface="Petrona Bold" pitchFamily="34" charset="-120"/>
              </a:rPr>
              <a:t>Données Sociodémographiques</a:t>
            </a:r>
            <a:endParaRPr lang="en-US" sz="1700" dirty="0"/>
          </a:p>
        </p:txBody>
      </p:sp>
      <p:sp>
        <p:nvSpPr>
          <p:cNvPr id="14" name="Text 4"/>
          <p:cNvSpPr/>
          <p:nvPr/>
        </p:nvSpPr>
        <p:spPr>
          <a:xfrm>
            <a:off x="638294" y="2985492"/>
            <a:ext cx="3036094" cy="254079"/>
          </a:xfrm>
          <a:prstGeom prst="rect">
            <a:avLst/>
          </a:prstGeom>
          <a:noFill/>
          <a:ln/>
        </p:spPr>
        <p:txBody>
          <a:bodyPr wrap="none" lIns="0" tIns="0" rIns="0" bIns="0" rtlCol="0" anchor="t"/>
          <a:lstStyle/>
          <a:p>
            <a:pPr marL="342900" indent="-342900" algn="l">
              <a:lnSpc>
                <a:spcPts val="2000"/>
              </a:lnSpc>
              <a:buSzPct val="100000"/>
              <a:buChar char="•"/>
            </a:pPr>
            <a:r>
              <a:rPr lang="en-US" sz="1250" kern="0" spc="-25" dirty="0">
                <a:solidFill>
                  <a:srgbClr val="272525"/>
                </a:solidFill>
                <a:latin typeface="Inter" pitchFamily="34" charset="0"/>
                <a:ea typeface="Inter" pitchFamily="34" charset="-122"/>
                <a:cs typeface="Inter" pitchFamily="34" charset="-120"/>
              </a:rPr>
              <a:t>Âge, genre, localisation</a:t>
            </a:r>
            <a:endParaRPr lang="en-US" sz="1250" dirty="0"/>
          </a:p>
        </p:txBody>
      </p:sp>
      <p:sp>
        <p:nvSpPr>
          <p:cNvPr id="15" name="Text 5"/>
          <p:cNvSpPr/>
          <p:nvPr/>
        </p:nvSpPr>
        <p:spPr>
          <a:xfrm>
            <a:off x="638294" y="3295055"/>
            <a:ext cx="3036094" cy="254079"/>
          </a:xfrm>
          <a:prstGeom prst="rect">
            <a:avLst/>
          </a:prstGeom>
          <a:noFill/>
          <a:ln/>
        </p:spPr>
        <p:txBody>
          <a:bodyPr wrap="none" lIns="0" tIns="0" rIns="0" bIns="0" rtlCol="0" anchor="t"/>
          <a:lstStyle/>
          <a:p>
            <a:pPr marL="342900" indent="-342900" algn="l">
              <a:lnSpc>
                <a:spcPts val="2000"/>
              </a:lnSpc>
              <a:buSzPct val="100000"/>
              <a:buChar char="•"/>
            </a:pPr>
            <a:r>
              <a:rPr lang="en-US" sz="1250" kern="0" spc="-25" dirty="0">
                <a:solidFill>
                  <a:srgbClr val="272525"/>
                </a:solidFill>
                <a:latin typeface="Inter" pitchFamily="34" charset="0"/>
                <a:ea typeface="Inter" pitchFamily="34" charset="-122"/>
                <a:cs typeface="Inter" pitchFamily="34" charset="-120"/>
              </a:rPr>
              <a:t>Situation familiale et professionnelle</a:t>
            </a:r>
            <a:endParaRPr lang="en-US" sz="1250" dirty="0"/>
          </a:p>
        </p:txBody>
      </p:sp>
      <p:sp>
        <p:nvSpPr>
          <p:cNvPr id="16" name="Text 6"/>
          <p:cNvSpPr/>
          <p:nvPr/>
        </p:nvSpPr>
        <p:spPr>
          <a:xfrm>
            <a:off x="4285893" y="1300401"/>
            <a:ext cx="2619256" cy="272891"/>
          </a:xfrm>
          <a:prstGeom prst="rect">
            <a:avLst/>
          </a:prstGeom>
          <a:noFill/>
          <a:ln/>
        </p:spPr>
        <p:txBody>
          <a:bodyPr wrap="none" lIns="0" tIns="0" rIns="0" bIns="0" rtlCol="0" anchor="t"/>
          <a:lstStyle/>
          <a:p>
            <a:pPr marL="0" indent="0" algn="ctr">
              <a:lnSpc>
                <a:spcPts val="2100"/>
              </a:lnSpc>
              <a:buNone/>
            </a:pPr>
            <a:r>
              <a:rPr lang="en-US" sz="1700" b="1" kern="0" spc="-34" dirty="0">
                <a:solidFill>
                  <a:srgbClr val="F95F88"/>
                </a:solidFill>
                <a:latin typeface="Petrona Bold" pitchFamily="34" charset="0"/>
                <a:ea typeface="Petrona Bold" pitchFamily="34" charset="-122"/>
                <a:cs typeface="Petrona Bold" pitchFamily="34" charset="-120"/>
              </a:rPr>
              <a:t>Données Transactionnelles</a:t>
            </a:r>
            <a:endParaRPr lang="en-US" sz="1700" dirty="0"/>
          </a:p>
        </p:txBody>
      </p:sp>
      <p:sp>
        <p:nvSpPr>
          <p:cNvPr id="17" name="Text 7"/>
          <p:cNvSpPr/>
          <p:nvPr/>
        </p:nvSpPr>
        <p:spPr>
          <a:xfrm>
            <a:off x="4074081" y="1668542"/>
            <a:ext cx="3042880" cy="254079"/>
          </a:xfrm>
          <a:prstGeom prst="rect">
            <a:avLst/>
          </a:prstGeom>
          <a:noFill/>
          <a:ln/>
        </p:spPr>
        <p:txBody>
          <a:bodyPr wrap="none" lIns="0" tIns="0" rIns="0" bIns="0" rtlCol="0" anchor="t"/>
          <a:lstStyle/>
          <a:p>
            <a:pPr marL="342900" indent="-342900" algn="l">
              <a:lnSpc>
                <a:spcPts val="2000"/>
              </a:lnSpc>
              <a:buSzPct val="100000"/>
              <a:buChar char="•"/>
            </a:pPr>
            <a:r>
              <a:rPr lang="en-US" sz="1250" kern="0" spc="-25" dirty="0">
                <a:solidFill>
                  <a:srgbClr val="272525"/>
                </a:solidFill>
                <a:latin typeface="Inter" pitchFamily="34" charset="0"/>
                <a:ea typeface="Inter" pitchFamily="34" charset="-122"/>
                <a:cs typeface="Inter" pitchFamily="34" charset="-120"/>
              </a:rPr>
              <a:t>Historique d'achat</a:t>
            </a:r>
            <a:endParaRPr lang="en-US" sz="1250" dirty="0"/>
          </a:p>
        </p:txBody>
      </p:sp>
      <p:sp>
        <p:nvSpPr>
          <p:cNvPr id="18" name="Text 8"/>
          <p:cNvSpPr/>
          <p:nvPr/>
        </p:nvSpPr>
        <p:spPr>
          <a:xfrm>
            <a:off x="4074081" y="1978104"/>
            <a:ext cx="3042880" cy="254079"/>
          </a:xfrm>
          <a:prstGeom prst="rect">
            <a:avLst/>
          </a:prstGeom>
          <a:noFill/>
          <a:ln/>
        </p:spPr>
        <p:txBody>
          <a:bodyPr wrap="none" lIns="0" tIns="0" rIns="0" bIns="0" rtlCol="0" anchor="t"/>
          <a:lstStyle/>
          <a:p>
            <a:pPr marL="342900" indent="-342900" algn="l">
              <a:lnSpc>
                <a:spcPts val="2000"/>
              </a:lnSpc>
              <a:buSzPct val="100000"/>
              <a:buChar char="•"/>
            </a:pPr>
            <a:r>
              <a:rPr lang="en-US" sz="1250" kern="0" spc="-25" dirty="0">
                <a:solidFill>
                  <a:srgbClr val="272525"/>
                </a:solidFill>
                <a:latin typeface="Inter" pitchFamily="34" charset="0"/>
                <a:ea typeface="Inter" pitchFamily="34" charset="-122"/>
                <a:cs typeface="Inter" pitchFamily="34" charset="-120"/>
              </a:rPr>
              <a:t>Montant et fréquence des transactions</a:t>
            </a:r>
            <a:endParaRPr lang="en-US" sz="1250" dirty="0"/>
          </a:p>
        </p:txBody>
      </p:sp>
      <p:sp>
        <p:nvSpPr>
          <p:cNvPr id="19" name="Text 9"/>
          <p:cNvSpPr/>
          <p:nvPr/>
        </p:nvSpPr>
        <p:spPr>
          <a:xfrm>
            <a:off x="7669173" y="1300401"/>
            <a:ext cx="2731056" cy="272891"/>
          </a:xfrm>
          <a:prstGeom prst="rect">
            <a:avLst/>
          </a:prstGeom>
          <a:noFill/>
          <a:ln/>
        </p:spPr>
        <p:txBody>
          <a:bodyPr wrap="none" lIns="0" tIns="0" rIns="0" bIns="0" rtlCol="0" anchor="t"/>
          <a:lstStyle/>
          <a:p>
            <a:pPr marL="0" indent="0" algn="ctr">
              <a:lnSpc>
                <a:spcPts val="2100"/>
              </a:lnSpc>
              <a:buNone/>
            </a:pPr>
            <a:r>
              <a:rPr lang="en-US" sz="1700" b="1" kern="0" spc="-34" dirty="0">
                <a:solidFill>
                  <a:srgbClr val="F95F88"/>
                </a:solidFill>
                <a:latin typeface="Petrona Bold" pitchFamily="34" charset="0"/>
                <a:ea typeface="Petrona Bold" pitchFamily="34" charset="-122"/>
                <a:cs typeface="Petrona Bold" pitchFamily="34" charset="-120"/>
              </a:rPr>
              <a:t>Données Comportementales</a:t>
            </a:r>
            <a:endParaRPr lang="en-US" sz="1700" dirty="0"/>
          </a:p>
        </p:txBody>
      </p:sp>
      <p:sp>
        <p:nvSpPr>
          <p:cNvPr id="20" name="Text 10"/>
          <p:cNvSpPr/>
          <p:nvPr/>
        </p:nvSpPr>
        <p:spPr>
          <a:xfrm>
            <a:off x="7594759" y="1668542"/>
            <a:ext cx="2880003" cy="254079"/>
          </a:xfrm>
          <a:prstGeom prst="rect">
            <a:avLst/>
          </a:prstGeom>
          <a:noFill/>
          <a:ln/>
        </p:spPr>
        <p:txBody>
          <a:bodyPr wrap="none" lIns="0" tIns="0" rIns="0" bIns="0" rtlCol="0" anchor="t"/>
          <a:lstStyle/>
          <a:p>
            <a:pPr marL="342900" indent="-342900" algn="l">
              <a:lnSpc>
                <a:spcPts val="2000"/>
              </a:lnSpc>
              <a:buSzPct val="100000"/>
              <a:buChar char="•"/>
            </a:pPr>
            <a:r>
              <a:rPr lang="en-US" sz="1250" kern="0" spc="-25" dirty="0">
                <a:solidFill>
                  <a:srgbClr val="272525"/>
                </a:solidFill>
                <a:latin typeface="Inter" pitchFamily="34" charset="0"/>
                <a:ea typeface="Inter" pitchFamily="34" charset="-122"/>
                <a:cs typeface="Inter" pitchFamily="34" charset="-120"/>
              </a:rPr>
              <a:t>Navigation web et applications</a:t>
            </a:r>
            <a:endParaRPr lang="en-US" sz="1250" dirty="0"/>
          </a:p>
        </p:txBody>
      </p:sp>
      <p:sp>
        <p:nvSpPr>
          <p:cNvPr id="21" name="Text 11"/>
          <p:cNvSpPr/>
          <p:nvPr/>
        </p:nvSpPr>
        <p:spPr>
          <a:xfrm>
            <a:off x="7594759" y="1978104"/>
            <a:ext cx="2880003" cy="254079"/>
          </a:xfrm>
          <a:prstGeom prst="rect">
            <a:avLst/>
          </a:prstGeom>
          <a:noFill/>
          <a:ln/>
        </p:spPr>
        <p:txBody>
          <a:bodyPr wrap="none" lIns="0" tIns="0" rIns="0" bIns="0" rtlCol="0" anchor="t"/>
          <a:lstStyle/>
          <a:p>
            <a:pPr marL="342900" indent="-342900" algn="l">
              <a:lnSpc>
                <a:spcPts val="2000"/>
              </a:lnSpc>
              <a:buSzPct val="100000"/>
              <a:buChar char="•"/>
            </a:pPr>
            <a:r>
              <a:rPr lang="en-US" sz="1250" kern="0" spc="-25" dirty="0">
                <a:solidFill>
                  <a:srgbClr val="272525"/>
                </a:solidFill>
                <a:latin typeface="Inter" pitchFamily="34" charset="0"/>
                <a:ea typeface="Inter" pitchFamily="34" charset="-122"/>
                <a:cs typeface="Inter" pitchFamily="34" charset="-120"/>
              </a:rPr>
              <a:t>Interaction avec les communications</a:t>
            </a:r>
            <a:endParaRPr lang="en-US" sz="1250" dirty="0"/>
          </a:p>
        </p:txBody>
      </p:sp>
      <p:sp>
        <p:nvSpPr>
          <p:cNvPr id="22" name="Text 12"/>
          <p:cNvSpPr/>
          <p:nvPr/>
        </p:nvSpPr>
        <p:spPr>
          <a:xfrm>
            <a:off x="11381899" y="2617351"/>
            <a:ext cx="2183963" cy="272891"/>
          </a:xfrm>
          <a:prstGeom prst="rect">
            <a:avLst/>
          </a:prstGeom>
          <a:noFill/>
          <a:ln/>
        </p:spPr>
        <p:txBody>
          <a:bodyPr wrap="none" lIns="0" tIns="0" rIns="0" bIns="0" rtlCol="0" anchor="t"/>
          <a:lstStyle/>
          <a:p>
            <a:pPr marL="0" indent="0" algn="ctr">
              <a:lnSpc>
                <a:spcPts val="2100"/>
              </a:lnSpc>
              <a:buNone/>
            </a:pPr>
            <a:r>
              <a:rPr lang="en-US" sz="1700" b="1" kern="0" spc="-34" dirty="0">
                <a:solidFill>
                  <a:srgbClr val="F95F88"/>
                </a:solidFill>
                <a:latin typeface="Petrona Bold" pitchFamily="34" charset="0"/>
                <a:ea typeface="Petrona Bold" pitchFamily="34" charset="-122"/>
                <a:cs typeface="Petrona Bold" pitchFamily="34" charset="-120"/>
              </a:rPr>
              <a:t>Données Déclaratives</a:t>
            </a:r>
            <a:endParaRPr lang="en-US" sz="1700" dirty="0"/>
          </a:p>
        </p:txBody>
      </p:sp>
      <p:sp>
        <p:nvSpPr>
          <p:cNvPr id="23" name="Text 13"/>
          <p:cNvSpPr/>
          <p:nvPr/>
        </p:nvSpPr>
        <p:spPr>
          <a:xfrm>
            <a:off x="11181993" y="2985492"/>
            <a:ext cx="2583894" cy="254079"/>
          </a:xfrm>
          <a:prstGeom prst="rect">
            <a:avLst/>
          </a:prstGeom>
          <a:noFill/>
          <a:ln/>
        </p:spPr>
        <p:txBody>
          <a:bodyPr wrap="none" lIns="0" tIns="0" rIns="0" bIns="0" rtlCol="0" anchor="t"/>
          <a:lstStyle/>
          <a:p>
            <a:pPr marL="342900" indent="-342900" algn="l">
              <a:lnSpc>
                <a:spcPts val="2000"/>
              </a:lnSpc>
              <a:buSzPct val="100000"/>
              <a:buChar char="•"/>
            </a:pPr>
            <a:r>
              <a:rPr lang="en-US" sz="1250" kern="0" spc="-25" dirty="0">
                <a:solidFill>
                  <a:srgbClr val="272525"/>
                </a:solidFill>
                <a:latin typeface="Inter" pitchFamily="34" charset="0"/>
                <a:ea typeface="Inter" pitchFamily="34" charset="-122"/>
                <a:cs typeface="Inter" pitchFamily="34" charset="-120"/>
              </a:rPr>
              <a:t>Préférences exprimées</a:t>
            </a:r>
            <a:endParaRPr lang="en-US" sz="1250" dirty="0"/>
          </a:p>
        </p:txBody>
      </p:sp>
      <p:sp>
        <p:nvSpPr>
          <p:cNvPr id="24" name="Text 14"/>
          <p:cNvSpPr/>
          <p:nvPr/>
        </p:nvSpPr>
        <p:spPr>
          <a:xfrm>
            <a:off x="11181993" y="3295055"/>
            <a:ext cx="2583894" cy="254079"/>
          </a:xfrm>
          <a:prstGeom prst="rect">
            <a:avLst/>
          </a:prstGeom>
          <a:noFill/>
          <a:ln/>
        </p:spPr>
        <p:txBody>
          <a:bodyPr wrap="none" lIns="0" tIns="0" rIns="0" bIns="0" rtlCol="0" anchor="t"/>
          <a:lstStyle/>
          <a:p>
            <a:pPr marL="342900" indent="-342900" algn="l">
              <a:lnSpc>
                <a:spcPts val="2000"/>
              </a:lnSpc>
              <a:buSzPct val="100000"/>
              <a:buChar char="•"/>
            </a:pPr>
            <a:r>
              <a:rPr lang="en-US" sz="1250" kern="0" spc="-25" dirty="0">
                <a:solidFill>
                  <a:srgbClr val="272525"/>
                </a:solidFill>
                <a:latin typeface="Inter" pitchFamily="34" charset="0"/>
                <a:ea typeface="Inter" pitchFamily="34" charset="-122"/>
                <a:cs typeface="Inter" pitchFamily="34" charset="-120"/>
              </a:rPr>
              <a:t>Retours d'enquêtes et sondages</a:t>
            </a:r>
            <a:endParaRPr lang="en-US" sz="1250" dirty="0"/>
          </a:p>
        </p:txBody>
      </p:sp>
      <p:sp>
        <p:nvSpPr>
          <p:cNvPr id="25" name="Rectangle : coins arrondis 24">
            <a:extLst>
              <a:ext uri="{FF2B5EF4-FFF2-40B4-BE49-F238E27FC236}">
                <a16:creationId xmlns:a16="http://schemas.microsoft.com/office/drawing/2014/main" id="{32EA46F9-94AA-57C2-4643-46A8B6E0DA07}"/>
              </a:ext>
            </a:extLst>
          </p:cNvPr>
          <p:cNvSpPr/>
          <p:nvPr/>
        </p:nvSpPr>
        <p:spPr>
          <a:xfrm>
            <a:off x="12640962" y="7793712"/>
            <a:ext cx="1890584" cy="439169"/>
          </a:xfrm>
          <a:prstGeom prst="roundRect">
            <a:avLst/>
          </a:prstGeom>
          <a:solidFill>
            <a:srgbClr val="FDFA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37342" y="501015"/>
            <a:ext cx="6714411" cy="625912"/>
          </a:xfrm>
          <a:prstGeom prst="rect">
            <a:avLst/>
          </a:prstGeom>
          <a:noFill/>
          <a:ln/>
        </p:spPr>
        <p:txBody>
          <a:bodyPr wrap="none" lIns="0" tIns="0" rIns="0" bIns="0" rtlCol="0" anchor="t"/>
          <a:lstStyle/>
          <a:p>
            <a:pPr marL="0" indent="0" algn="l">
              <a:lnSpc>
                <a:spcPts val="4900"/>
              </a:lnSpc>
              <a:buNone/>
            </a:pPr>
            <a:r>
              <a:rPr lang="en-US" sz="3900" b="1" kern="0" spc="-79" dirty="0">
                <a:solidFill>
                  <a:srgbClr val="F95F88"/>
                </a:solidFill>
                <a:latin typeface="Petrona Bold" pitchFamily="34" charset="0"/>
                <a:ea typeface="Petrona Bold" pitchFamily="34" charset="-122"/>
                <a:cs typeface="Petrona Bold" pitchFamily="34" charset="-120"/>
              </a:rPr>
              <a:t>Méthodologie de Construction</a:t>
            </a:r>
            <a:endParaRPr lang="en-US" sz="3900" dirty="0"/>
          </a:p>
        </p:txBody>
      </p:sp>
      <p:pic>
        <p:nvPicPr>
          <p:cNvPr id="3" name="Image 0" descr="preencoded.png"/>
          <p:cNvPicPr>
            <a:picLocks noChangeAspect="1"/>
          </p:cNvPicPr>
          <p:nvPr/>
        </p:nvPicPr>
        <p:blipFill>
          <a:blip r:embed="rId3"/>
          <a:stretch>
            <a:fillRect/>
          </a:stretch>
        </p:blipFill>
        <p:spPr>
          <a:xfrm>
            <a:off x="637342" y="1491139"/>
            <a:ext cx="910471" cy="1092637"/>
          </a:xfrm>
          <a:prstGeom prst="rect">
            <a:avLst/>
          </a:prstGeom>
        </p:spPr>
      </p:pic>
      <p:sp>
        <p:nvSpPr>
          <p:cNvPr id="4" name="Text 1"/>
          <p:cNvSpPr/>
          <p:nvPr/>
        </p:nvSpPr>
        <p:spPr>
          <a:xfrm>
            <a:off x="1820942" y="1673185"/>
            <a:ext cx="2730818" cy="312896"/>
          </a:xfrm>
          <a:prstGeom prst="rect">
            <a:avLst/>
          </a:prstGeom>
          <a:noFill/>
          <a:ln/>
        </p:spPr>
        <p:txBody>
          <a:bodyPr wrap="none" lIns="0" tIns="0" rIns="0" bIns="0" rtlCol="0" anchor="t"/>
          <a:lstStyle/>
          <a:p>
            <a:pPr marL="0" indent="0" algn="l">
              <a:lnSpc>
                <a:spcPts val="2450"/>
              </a:lnSpc>
              <a:buNone/>
            </a:pPr>
            <a:r>
              <a:rPr lang="en-US" sz="1950" b="1" kern="0" spc="-39" dirty="0">
                <a:solidFill>
                  <a:srgbClr val="272525"/>
                </a:solidFill>
                <a:latin typeface="Petrona Bold" pitchFamily="34" charset="0"/>
                <a:ea typeface="Petrona Bold" pitchFamily="34" charset="-122"/>
                <a:cs typeface="Petrona Bold" pitchFamily="34" charset="-120"/>
              </a:rPr>
              <a:t>Préparation des données</a:t>
            </a:r>
            <a:endParaRPr lang="en-US" sz="1950" dirty="0"/>
          </a:p>
        </p:txBody>
      </p:sp>
      <p:sp>
        <p:nvSpPr>
          <p:cNvPr id="5" name="Text 2"/>
          <p:cNvSpPr/>
          <p:nvPr/>
        </p:nvSpPr>
        <p:spPr>
          <a:xfrm>
            <a:off x="1820942" y="2095262"/>
            <a:ext cx="12172117" cy="291465"/>
          </a:xfrm>
          <a:prstGeom prst="rect">
            <a:avLst/>
          </a:prstGeom>
          <a:noFill/>
          <a:ln/>
        </p:spPr>
        <p:txBody>
          <a:bodyPr wrap="none" lIns="0" tIns="0" rIns="0" bIns="0" rtlCol="0" anchor="t"/>
          <a:lstStyle/>
          <a:p>
            <a:pPr marL="0" indent="0" algn="l">
              <a:lnSpc>
                <a:spcPts val="2250"/>
              </a:lnSpc>
              <a:buNone/>
            </a:pPr>
            <a:r>
              <a:rPr lang="en-US" sz="1400" kern="0" spc="-29" dirty="0">
                <a:solidFill>
                  <a:srgbClr val="272525"/>
                </a:solidFill>
                <a:latin typeface="Inter" pitchFamily="34" charset="0"/>
                <a:ea typeface="Inter" pitchFamily="34" charset="-122"/>
                <a:cs typeface="Inter" pitchFamily="34" charset="-120"/>
              </a:rPr>
              <a:t>Collecte, nettoyage et enrichissement des données clients</a:t>
            </a:r>
            <a:endParaRPr lang="en-US" sz="1400" dirty="0"/>
          </a:p>
        </p:txBody>
      </p:sp>
      <p:pic>
        <p:nvPicPr>
          <p:cNvPr id="6" name="Image 1" descr="preencoded.png"/>
          <p:cNvPicPr>
            <a:picLocks noChangeAspect="1"/>
          </p:cNvPicPr>
          <p:nvPr/>
        </p:nvPicPr>
        <p:blipFill>
          <a:blip r:embed="rId4"/>
          <a:stretch>
            <a:fillRect/>
          </a:stretch>
        </p:blipFill>
        <p:spPr>
          <a:xfrm>
            <a:off x="637342" y="2583775"/>
            <a:ext cx="910471" cy="1092637"/>
          </a:xfrm>
          <a:prstGeom prst="rect">
            <a:avLst/>
          </a:prstGeom>
        </p:spPr>
      </p:pic>
      <p:sp>
        <p:nvSpPr>
          <p:cNvPr id="7" name="Text 3"/>
          <p:cNvSpPr/>
          <p:nvPr/>
        </p:nvSpPr>
        <p:spPr>
          <a:xfrm>
            <a:off x="1820942" y="2765822"/>
            <a:ext cx="2504003" cy="312896"/>
          </a:xfrm>
          <a:prstGeom prst="rect">
            <a:avLst/>
          </a:prstGeom>
          <a:noFill/>
          <a:ln/>
        </p:spPr>
        <p:txBody>
          <a:bodyPr wrap="none" lIns="0" tIns="0" rIns="0" bIns="0" rtlCol="0" anchor="t"/>
          <a:lstStyle/>
          <a:p>
            <a:pPr marL="0" indent="0" algn="l">
              <a:lnSpc>
                <a:spcPts val="2450"/>
              </a:lnSpc>
              <a:buNone/>
            </a:pPr>
            <a:r>
              <a:rPr lang="en-US" sz="1950" b="1" kern="0" spc="-39" dirty="0">
                <a:solidFill>
                  <a:srgbClr val="272525"/>
                </a:solidFill>
                <a:latin typeface="Petrona Bold" pitchFamily="34" charset="0"/>
                <a:ea typeface="Petrona Bold" pitchFamily="34" charset="-122"/>
                <a:cs typeface="Petrona Bold" pitchFamily="34" charset="-120"/>
              </a:rPr>
              <a:t>Définition de la cible</a:t>
            </a:r>
            <a:endParaRPr lang="en-US" sz="1950" dirty="0"/>
          </a:p>
        </p:txBody>
      </p:sp>
      <p:sp>
        <p:nvSpPr>
          <p:cNvPr id="8" name="Text 4"/>
          <p:cNvSpPr/>
          <p:nvPr/>
        </p:nvSpPr>
        <p:spPr>
          <a:xfrm>
            <a:off x="1820942" y="3187898"/>
            <a:ext cx="12172117" cy="291465"/>
          </a:xfrm>
          <a:prstGeom prst="rect">
            <a:avLst/>
          </a:prstGeom>
          <a:noFill/>
          <a:ln/>
        </p:spPr>
        <p:txBody>
          <a:bodyPr wrap="none" lIns="0" tIns="0" rIns="0" bIns="0" rtlCol="0" anchor="t"/>
          <a:lstStyle/>
          <a:p>
            <a:pPr marL="0" indent="0" algn="l">
              <a:lnSpc>
                <a:spcPts val="2250"/>
              </a:lnSpc>
              <a:buNone/>
            </a:pPr>
            <a:r>
              <a:rPr lang="en-US" sz="1400" kern="0" spc="-29" dirty="0">
                <a:solidFill>
                  <a:srgbClr val="272525"/>
                </a:solidFill>
                <a:latin typeface="Inter" pitchFamily="34" charset="0"/>
                <a:ea typeface="Inter" pitchFamily="34" charset="-122"/>
                <a:cs typeface="Inter" pitchFamily="34" charset="-120"/>
              </a:rPr>
              <a:t>Identification précise du comportement à prédire</a:t>
            </a:r>
            <a:endParaRPr lang="en-US" sz="1400" dirty="0"/>
          </a:p>
        </p:txBody>
      </p:sp>
      <p:pic>
        <p:nvPicPr>
          <p:cNvPr id="9" name="Image 2" descr="preencoded.png"/>
          <p:cNvPicPr>
            <a:picLocks noChangeAspect="1"/>
          </p:cNvPicPr>
          <p:nvPr/>
        </p:nvPicPr>
        <p:blipFill>
          <a:blip r:embed="rId5"/>
          <a:stretch>
            <a:fillRect/>
          </a:stretch>
        </p:blipFill>
        <p:spPr>
          <a:xfrm>
            <a:off x="637342" y="3676412"/>
            <a:ext cx="910471" cy="1092637"/>
          </a:xfrm>
          <a:prstGeom prst="rect">
            <a:avLst/>
          </a:prstGeom>
        </p:spPr>
      </p:pic>
      <p:sp>
        <p:nvSpPr>
          <p:cNvPr id="10" name="Text 5"/>
          <p:cNvSpPr/>
          <p:nvPr/>
        </p:nvSpPr>
        <p:spPr>
          <a:xfrm>
            <a:off x="1820942" y="3858458"/>
            <a:ext cx="2504003" cy="312896"/>
          </a:xfrm>
          <a:prstGeom prst="rect">
            <a:avLst/>
          </a:prstGeom>
          <a:noFill/>
          <a:ln/>
        </p:spPr>
        <p:txBody>
          <a:bodyPr wrap="none" lIns="0" tIns="0" rIns="0" bIns="0" rtlCol="0" anchor="t"/>
          <a:lstStyle/>
          <a:p>
            <a:pPr marL="0" indent="0" algn="l">
              <a:lnSpc>
                <a:spcPts val="2450"/>
              </a:lnSpc>
              <a:buNone/>
            </a:pPr>
            <a:r>
              <a:rPr lang="en-US" sz="1950" b="1" kern="0" spc="-39" dirty="0">
                <a:solidFill>
                  <a:srgbClr val="272525"/>
                </a:solidFill>
                <a:latin typeface="Petrona Bold" pitchFamily="34" charset="0"/>
                <a:ea typeface="Petrona Bold" pitchFamily="34" charset="-122"/>
                <a:cs typeface="Petrona Bold" pitchFamily="34" charset="-120"/>
              </a:rPr>
              <a:t>Modélisation</a:t>
            </a:r>
            <a:endParaRPr lang="en-US" sz="1950" dirty="0"/>
          </a:p>
        </p:txBody>
      </p:sp>
      <p:sp>
        <p:nvSpPr>
          <p:cNvPr id="11" name="Text 6"/>
          <p:cNvSpPr/>
          <p:nvPr/>
        </p:nvSpPr>
        <p:spPr>
          <a:xfrm>
            <a:off x="1820942" y="4280535"/>
            <a:ext cx="12172117" cy="291465"/>
          </a:xfrm>
          <a:prstGeom prst="rect">
            <a:avLst/>
          </a:prstGeom>
          <a:noFill/>
          <a:ln/>
        </p:spPr>
        <p:txBody>
          <a:bodyPr wrap="none" lIns="0" tIns="0" rIns="0" bIns="0" rtlCol="0" anchor="t"/>
          <a:lstStyle/>
          <a:p>
            <a:pPr marL="0" indent="0" algn="l">
              <a:lnSpc>
                <a:spcPts val="2250"/>
              </a:lnSpc>
              <a:buNone/>
            </a:pPr>
            <a:r>
              <a:rPr lang="en-US" sz="1400" kern="0" spc="-29" dirty="0">
                <a:solidFill>
                  <a:srgbClr val="272525"/>
                </a:solidFill>
                <a:latin typeface="Inter" pitchFamily="34" charset="0"/>
                <a:ea typeface="Inter" pitchFamily="34" charset="-122"/>
                <a:cs typeface="Inter" pitchFamily="34" charset="-120"/>
              </a:rPr>
              <a:t>Développement et test de différents algorithmes prédictifs</a:t>
            </a:r>
            <a:endParaRPr lang="en-US" sz="1400" dirty="0"/>
          </a:p>
        </p:txBody>
      </p:sp>
      <p:pic>
        <p:nvPicPr>
          <p:cNvPr id="12" name="Image 3" descr="preencoded.png"/>
          <p:cNvPicPr>
            <a:picLocks noChangeAspect="1"/>
          </p:cNvPicPr>
          <p:nvPr/>
        </p:nvPicPr>
        <p:blipFill>
          <a:blip r:embed="rId6"/>
          <a:stretch>
            <a:fillRect/>
          </a:stretch>
        </p:blipFill>
        <p:spPr>
          <a:xfrm>
            <a:off x="637342" y="4769048"/>
            <a:ext cx="910471" cy="1092637"/>
          </a:xfrm>
          <a:prstGeom prst="rect">
            <a:avLst/>
          </a:prstGeom>
        </p:spPr>
      </p:pic>
      <p:sp>
        <p:nvSpPr>
          <p:cNvPr id="13" name="Text 7"/>
          <p:cNvSpPr/>
          <p:nvPr/>
        </p:nvSpPr>
        <p:spPr>
          <a:xfrm>
            <a:off x="1820942" y="4951095"/>
            <a:ext cx="2860238" cy="312896"/>
          </a:xfrm>
          <a:prstGeom prst="rect">
            <a:avLst/>
          </a:prstGeom>
          <a:noFill/>
          <a:ln/>
        </p:spPr>
        <p:txBody>
          <a:bodyPr wrap="none" lIns="0" tIns="0" rIns="0" bIns="0" rtlCol="0" anchor="t"/>
          <a:lstStyle/>
          <a:p>
            <a:pPr marL="0" indent="0" algn="l">
              <a:lnSpc>
                <a:spcPts val="2450"/>
              </a:lnSpc>
              <a:buNone/>
            </a:pPr>
            <a:r>
              <a:rPr lang="en-US" sz="1950" b="1" kern="0" spc="-39" dirty="0">
                <a:solidFill>
                  <a:srgbClr val="272525"/>
                </a:solidFill>
                <a:latin typeface="Petrona Bold" pitchFamily="34" charset="0"/>
                <a:ea typeface="Petrona Bold" pitchFamily="34" charset="-122"/>
                <a:cs typeface="Petrona Bold" pitchFamily="34" charset="-120"/>
              </a:rPr>
              <a:t>Validation et déploiement</a:t>
            </a:r>
            <a:endParaRPr lang="en-US" sz="1950" dirty="0"/>
          </a:p>
        </p:txBody>
      </p:sp>
      <p:sp>
        <p:nvSpPr>
          <p:cNvPr id="14" name="Text 8"/>
          <p:cNvSpPr/>
          <p:nvPr/>
        </p:nvSpPr>
        <p:spPr>
          <a:xfrm>
            <a:off x="1820942" y="5373172"/>
            <a:ext cx="12172117" cy="291465"/>
          </a:xfrm>
          <a:prstGeom prst="rect">
            <a:avLst/>
          </a:prstGeom>
          <a:noFill/>
          <a:ln/>
        </p:spPr>
        <p:txBody>
          <a:bodyPr wrap="none" lIns="0" tIns="0" rIns="0" bIns="0" rtlCol="0" anchor="t"/>
          <a:lstStyle/>
          <a:p>
            <a:pPr marL="0" indent="0" algn="l">
              <a:lnSpc>
                <a:spcPts val="2250"/>
              </a:lnSpc>
              <a:buNone/>
            </a:pPr>
            <a:r>
              <a:rPr lang="en-US" sz="1400" kern="0" spc="-29" dirty="0">
                <a:solidFill>
                  <a:srgbClr val="272525"/>
                </a:solidFill>
                <a:latin typeface="Inter" pitchFamily="34" charset="0"/>
                <a:ea typeface="Inter" pitchFamily="34" charset="-122"/>
                <a:cs typeface="Inter" pitchFamily="34" charset="-120"/>
              </a:rPr>
              <a:t>Évaluation des performances et mise en production</a:t>
            </a:r>
            <a:endParaRPr lang="en-US" sz="1400" dirty="0"/>
          </a:p>
        </p:txBody>
      </p:sp>
      <p:sp>
        <p:nvSpPr>
          <p:cNvPr id="15" name="Text 9"/>
          <p:cNvSpPr/>
          <p:nvPr/>
        </p:nvSpPr>
        <p:spPr>
          <a:xfrm>
            <a:off x="637342" y="6066473"/>
            <a:ext cx="13355717" cy="582930"/>
          </a:xfrm>
          <a:prstGeom prst="rect">
            <a:avLst/>
          </a:prstGeom>
          <a:noFill/>
          <a:ln/>
        </p:spPr>
        <p:txBody>
          <a:bodyPr wrap="square" lIns="0" tIns="0" rIns="0" bIns="0" rtlCol="0" anchor="t"/>
          <a:lstStyle/>
          <a:p>
            <a:pPr marL="0" indent="0" algn="l">
              <a:lnSpc>
                <a:spcPts val="2250"/>
              </a:lnSpc>
              <a:buNone/>
            </a:pPr>
            <a:r>
              <a:rPr lang="en-US" sz="1400" kern="0" spc="-29" dirty="0">
                <a:solidFill>
                  <a:srgbClr val="272525"/>
                </a:solidFill>
                <a:latin typeface="Inter" pitchFamily="34" charset="0"/>
                <a:ea typeface="Inter" pitchFamily="34" charset="-122"/>
                <a:cs typeface="Inter" pitchFamily="34" charset="-120"/>
              </a:rPr>
              <a:t>La construction d'un score d'appétence suit une méthodologie rigoureuse issue du data mining. Après la préparation des données, l'étape cruciale consiste à définir clairement ce que constitue un "client appétent" : achat d'un produit spécifique, souscription à un service, ou autre comportement cible.</a:t>
            </a:r>
            <a:endParaRPr lang="en-US" sz="1400" dirty="0"/>
          </a:p>
        </p:txBody>
      </p:sp>
      <p:sp>
        <p:nvSpPr>
          <p:cNvPr id="16" name="Text 10"/>
          <p:cNvSpPr/>
          <p:nvPr/>
        </p:nvSpPr>
        <p:spPr>
          <a:xfrm>
            <a:off x="637342" y="6854190"/>
            <a:ext cx="13355717" cy="874395"/>
          </a:xfrm>
          <a:prstGeom prst="rect">
            <a:avLst/>
          </a:prstGeom>
          <a:noFill/>
          <a:ln/>
        </p:spPr>
        <p:txBody>
          <a:bodyPr wrap="square" lIns="0" tIns="0" rIns="0" bIns="0" rtlCol="0" anchor="t"/>
          <a:lstStyle/>
          <a:p>
            <a:pPr marL="0" indent="0" algn="l">
              <a:lnSpc>
                <a:spcPts val="2250"/>
              </a:lnSpc>
              <a:buNone/>
            </a:pPr>
            <a:r>
              <a:rPr lang="en-US" sz="1400" kern="0" spc="-29" dirty="0">
                <a:solidFill>
                  <a:srgbClr val="272525"/>
                </a:solidFill>
                <a:latin typeface="Inter" pitchFamily="34" charset="0"/>
                <a:ea typeface="Inter" pitchFamily="34" charset="-122"/>
                <a:cs typeface="Inter" pitchFamily="34" charset="-120"/>
              </a:rPr>
              <a:t>Plusieurs techniques de modélisation peuvent être utilisées, des régressions logistiques classiques aux algorithmes d'apprentissage automatique plus avancés comme le gradient boosting ou les réseaux de neurones. Le choix dépend du volume de données disponibles et du niveau de précision requis. La validation croisée permet ensuite d'évaluer la robustesse du modèle avant son déploiement.</a:t>
            </a:r>
            <a:endParaRPr lang="en-US" sz="1400" dirty="0"/>
          </a:p>
        </p:txBody>
      </p:sp>
      <p:sp>
        <p:nvSpPr>
          <p:cNvPr id="17" name="Rectangle : coins arrondis 16">
            <a:extLst>
              <a:ext uri="{FF2B5EF4-FFF2-40B4-BE49-F238E27FC236}">
                <a16:creationId xmlns:a16="http://schemas.microsoft.com/office/drawing/2014/main" id="{23F6AB8C-A7CC-7121-2BCE-2F0510799051}"/>
              </a:ext>
            </a:extLst>
          </p:cNvPr>
          <p:cNvSpPr/>
          <p:nvPr/>
        </p:nvSpPr>
        <p:spPr>
          <a:xfrm>
            <a:off x="12640962" y="7653138"/>
            <a:ext cx="1890584" cy="480887"/>
          </a:xfrm>
          <a:prstGeom prst="roundRect">
            <a:avLst/>
          </a:prstGeom>
          <a:solidFill>
            <a:srgbClr val="FDFA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75930" y="786765"/>
            <a:ext cx="9912072" cy="762119"/>
          </a:xfrm>
          <a:prstGeom prst="rect">
            <a:avLst/>
          </a:prstGeom>
          <a:noFill/>
          <a:ln/>
        </p:spPr>
        <p:txBody>
          <a:bodyPr wrap="none" lIns="0" tIns="0" rIns="0" bIns="0" rtlCol="0" anchor="t"/>
          <a:lstStyle/>
          <a:p>
            <a:pPr marL="0" indent="0" algn="l">
              <a:lnSpc>
                <a:spcPts val="6000"/>
              </a:lnSpc>
              <a:buNone/>
            </a:pPr>
            <a:r>
              <a:rPr lang="en-US" sz="4800" b="1" kern="0" spc="-96" dirty="0">
                <a:solidFill>
                  <a:srgbClr val="F95F88"/>
                </a:solidFill>
                <a:latin typeface="Petrona Bold" pitchFamily="34" charset="0"/>
                <a:ea typeface="Petrona Bold" pitchFamily="34" charset="-122"/>
                <a:cs typeface="Petrona Bold" pitchFamily="34" charset="-120"/>
              </a:rPr>
              <a:t>Interprétation et Utilisation du Score</a:t>
            </a:r>
            <a:endParaRPr lang="en-US" sz="4800" dirty="0"/>
          </a:p>
        </p:txBody>
      </p:sp>
      <p:sp>
        <p:nvSpPr>
          <p:cNvPr id="3" name="Shape 1"/>
          <p:cNvSpPr/>
          <p:nvPr/>
        </p:nvSpPr>
        <p:spPr>
          <a:xfrm>
            <a:off x="775930" y="2657356"/>
            <a:ext cx="4137779" cy="221694"/>
          </a:xfrm>
          <a:prstGeom prst="roundRect">
            <a:avLst>
              <a:gd name="adj" fmla="val 42000"/>
            </a:avLst>
          </a:prstGeom>
          <a:solidFill>
            <a:srgbClr val="E0D7F4"/>
          </a:solidFill>
          <a:ln w="7620">
            <a:solidFill>
              <a:srgbClr val="C6BDDA"/>
            </a:solidFill>
            <a:prstDash val="solid"/>
          </a:ln>
        </p:spPr>
      </p:sp>
      <p:sp>
        <p:nvSpPr>
          <p:cNvPr id="4" name="Text 2"/>
          <p:cNvSpPr/>
          <p:nvPr/>
        </p:nvSpPr>
        <p:spPr>
          <a:xfrm>
            <a:off x="775930" y="3211592"/>
            <a:ext cx="4137779" cy="762000"/>
          </a:xfrm>
          <a:prstGeom prst="rect">
            <a:avLst/>
          </a:prstGeom>
          <a:noFill/>
          <a:ln/>
        </p:spPr>
        <p:txBody>
          <a:bodyPr wrap="square" lIns="0" tIns="0" rIns="0" bIns="0" rtlCol="0" anchor="t"/>
          <a:lstStyle/>
          <a:p>
            <a:pPr marL="0" indent="0" algn="l">
              <a:lnSpc>
                <a:spcPts val="3000"/>
              </a:lnSpc>
              <a:buNone/>
            </a:pPr>
            <a:r>
              <a:rPr lang="en-US" sz="2400" b="1" kern="0" spc="-48" dirty="0">
                <a:solidFill>
                  <a:srgbClr val="272525"/>
                </a:solidFill>
                <a:latin typeface="Petrona Bold" pitchFamily="34" charset="0"/>
                <a:ea typeface="Petrona Bold" pitchFamily="34" charset="-122"/>
                <a:cs typeface="Petrona Bold" pitchFamily="34" charset="-120"/>
              </a:rPr>
              <a:t>Segmentation par Niveau d'Appétence</a:t>
            </a:r>
            <a:endParaRPr lang="en-US" sz="2400" dirty="0"/>
          </a:p>
        </p:txBody>
      </p:sp>
      <p:sp>
        <p:nvSpPr>
          <p:cNvPr id="5" name="Text 3"/>
          <p:cNvSpPr/>
          <p:nvPr/>
        </p:nvSpPr>
        <p:spPr>
          <a:xfrm>
            <a:off x="775930" y="4106585"/>
            <a:ext cx="4137779" cy="709374"/>
          </a:xfrm>
          <a:prstGeom prst="rect">
            <a:avLst/>
          </a:prstGeom>
          <a:noFill/>
          <a:ln/>
        </p:spPr>
        <p:txBody>
          <a:bodyPr wrap="square" lIns="0" tIns="0" rIns="0" bIns="0" rtlCol="0" anchor="t"/>
          <a:lstStyle/>
          <a:p>
            <a:pPr marL="0" indent="0" algn="l">
              <a:lnSpc>
                <a:spcPts val="2750"/>
              </a:lnSpc>
              <a:buNone/>
            </a:pPr>
            <a:r>
              <a:rPr lang="en-US" sz="1700" kern="0" spc="-35" dirty="0">
                <a:solidFill>
                  <a:srgbClr val="272525"/>
                </a:solidFill>
                <a:latin typeface="Inter" pitchFamily="34" charset="0"/>
                <a:ea typeface="Inter" pitchFamily="34" charset="-122"/>
                <a:cs typeface="Inter" pitchFamily="34" charset="-120"/>
              </a:rPr>
              <a:t>Division de la base clients en groupes selon leur score (fort, moyen, faible)</a:t>
            </a:r>
            <a:endParaRPr lang="en-US" sz="1700" dirty="0"/>
          </a:p>
        </p:txBody>
      </p:sp>
      <p:sp>
        <p:nvSpPr>
          <p:cNvPr id="6" name="Shape 4"/>
          <p:cNvSpPr/>
          <p:nvPr/>
        </p:nvSpPr>
        <p:spPr>
          <a:xfrm>
            <a:off x="5246251" y="2324814"/>
            <a:ext cx="4137779" cy="221694"/>
          </a:xfrm>
          <a:prstGeom prst="roundRect">
            <a:avLst>
              <a:gd name="adj" fmla="val 42000"/>
            </a:avLst>
          </a:prstGeom>
          <a:solidFill>
            <a:srgbClr val="E0D7F4"/>
          </a:solidFill>
          <a:ln w="7620">
            <a:solidFill>
              <a:srgbClr val="C6BDDA"/>
            </a:solidFill>
            <a:prstDash val="solid"/>
          </a:ln>
        </p:spPr>
      </p:sp>
      <p:sp>
        <p:nvSpPr>
          <p:cNvPr id="7" name="Text 5"/>
          <p:cNvSpPr/>
          <p:nvPr/>
        </p:nvSpPr>
        <p:spPr>
          <a:xfrm>
            <a:off x="5246251" y="2879050"/>
            <a:ext cx="4137779" cy="762000"/>
          </a:xfrm>
          <a:prstGeom prst="rect">
            <a:avLst/>
          </a:prstGeom>
          <a:noFill/>
          <a:ln/>
        </p:spPr>
        <p:txBody>
          <a:bodyPr wrap="square" lIns="0" tIns="0" rIns="0" bIns="0" rtlCol="0" anchor="t"/>
          <a:lstStyle/>
          <a:p>
            <a:pPr marL="0" indent="0" algn="l">
              <a:lnSpc>
                <a:spcPts val="3000"/>
              </a:lnSpc>
              <a:buNone/>
            </a:pPr>
            <a:r>
              <a:rPr lang="en-US" sz="2400" b="1" kern="0" spc="-48" dirty="0">
                <a:solidFill>
                  <a:srgbClr val="272525"/>
                </a:solidFill>
                <a:latin typeface="Petrona Bold" pitchFamily="34" charset="0"/>
                <a:ea typeface="Petrona Bold" pitchFamily="34" charset="-122"/>
                <a:cs typeface="Petrona Bold" pitchFamily="34" charset="-120"/>
              </a:rPr>
              <a:t>Ajustement des Actions Marketing</a:t>
            </a:r>
            <a:endParaRPr lang="en-US" sz="2400" dirty="0"/>
          </a:p>
        </p:txBody>
      </p:sp>
      <p:sp>
        <p:nvSpPr>
          <p:cNvPr id="8" name="Text 6"/>
          <p:cNvSpPr/>
          <p:nvPr/>
        </p:nvSpPr>
        <p:spPr>
          <a:xfrm>
            <a:off x="5246251" y="3774043"/>
            <a:ext cx="4137779" cy="709374"/>
          </a:xfrm>
          <a:prstGeom prst="rect">
            <a:avLst/>
          </a:prstGeom>
          <a:noFill/>
          <a:ln/>
        </p:spPr>
        <p:txBody>
          <a:bodyPr wrap="square" lIns="0" tIns="0" rIns="0" bIns="0" rtlCol="0" anchor="t"/>
          <a:lstStyle/>
          <a:p>
            <a:pPr marL="0" indent="0" algn="l">
              <a:lnSpc>
                <a:spcPts val="2750"/>
              </a:lnSpc>
              <a:buNone/>
            </a:pPr>
            <a:r>
              <a:rPr lang="en-US" sz="1700" kern="0" spc="-35" dirty="0">
                <a:solidFill>
                  <a:srgbClr val="272525"/>
                </a:solidFill>
                <a:latin typeface="Inter" pitchFamily="34" charset="0"/>
                <a:ea typeface="Inter" pitchFamily="34" charset="-122"/>
                <a:cs typeface="Inter" pitchFamily="34" charset="-120"/>
              </a:rPr>
              <a:t>Adaptation des canaux, fréquences et messages selon le niveau d'appétence</a:t>
            </a:r>
            <a:endParaRPr lang="en-US" sz="1700" dirty="0"/>
          </a:p>
        </p:txBody>
      </p:sp>
      <p:sp>
        <p:nvSpPr>
          <p:cNvPr id="9" name="Shape 7"/>
          <p:cNvSpPr/>
          <p:nvPr/>
        </p:nvSpPr>
        <p:spPr>
          <a:xfrm>
            <a:off x="9716572" y="1992273"/>
            <a:ext cx="4137779" cy="221694"/>
          </a:xfrm>
          <a:prstGeom prst="roundRect">
            <a:avLst>
              <a:gd name="adj" fmla="val 42000"/>
            </a:avLst>
          </a:prstGeom>
          <a:solidFill>
            <a:srgbClr val="E0D7F4"/>
          </a:solidFill>
          <a:ln w="7620">
            <a:solidFill>
              <a:srgbClr val="C6BDDA"/>
            </a:solidFill>
            <a:prstDash val="solid"/>
          </a:ln>
        </p:spPr>
      </p:sp>
      <p:sp>
        <p:nvSpPr>
          <p:cNvPr id="10" name="Text 8"/>
          <p:cNvSpPr/>
          <p:nvPr/>
        </p:nvSpPr>
        <p:spPr>
          <a:xfrm>
            <a:off x="9716572" y="2546509"/>
            <a:ext cx="4137779" cy="762000"/>
          </a:xfrm>
          <a:prstGeom prst="rect">
            <a:avLst/>
          </a:prstGeom>
          <a:noFill/>
          <a:ln/>
        </p:spPr>
        <p:txBody>
          <a:bodyPr wrap="square" lIns="0" tIns="0" rIns="0" bIns="0" rtlCol="0" anchor="t"/>
          <a:lstStyle/>
          <a:p>
            <a:pPr marL="0" indent="0" algn="l">
              <a:lnSpc>
                <a:spcPts val="3000"/>
              </a:lnSpc>
              <a:buNone/>
            </a:pPr>
            <a:r>
              <a:rPr lang="en-US" sz="2400" b="1" kern="0" spc="-48" dirty="0">
                <a:solidFill>
                  <a:srgbClr val="272525"/>
                </a:solidFill>
                <a:latin typeface="Petrona Bold" pitchFamily="34" charset="0"/>
                <a:ea typeface="Petrona Bold" pitchFamily="34" charset="-122"/>
                <a:cs typeface="Petrona Bold" pitchFamily="34" charset="-120"/>
              </a:rPr>
              <a:t>Intégration aux Processus Commerciaux</a:t>
            </a:r>
            <a:endParaRPr lang="en-US" sz="2400" dirty="0"/>
          </a:p>
        </p:txBody>
      </p:sp>
      <p:sp>
        <p:nvSpPr>
          <p:cNvPr id="11" name="Text 9"/>
          <p:cNvSpPr/>
          <p:nvPr/>
        </p:nvSpPr>
        <p:spPr>
          <a:xfrm>
            <a:off x="9716572" y="3441502"/>
            <a:ext cx="4137779" cy="1064062"/>
          </a:xfrm>
          <a:prstGeom prst="rect">
            <a:avLst/>
          </a:prstGeom>
          <a:noFill/>
          <a:ln/>
        </p:spPr>
        <p:txBody>
          <a:bodyPr wrap="square" lIns="0" tIns="0" rIns="0" bIns="0" rtlCol="0" anchor="t"/>
          <a:lstStyle/>
          <a:p>
            <a:pPr marL="0" indent="0" algn="l">
              <a:lnSpc>
                <a:spcPts val="2750"/>
              </a:lnSpc>
              <a:buNone/>
            </a:pPr>
            <a:r>
              <a:rPr lang="en-US" sz="1700" kern="0" spc="-35" dirty="0">
                <a:solidFill>
                  <a:srgbClr val="272525"/>
                </a:solidFill>
                <a:latin typeface="Inter" pitchFamily="34" charset="0"/>
                <a:ea typeface="Inter" pitchFamily="34" charset="-122"/>
                <a:cs typeface="Inter" pitchFamily="34" charset="-120"/>
              </a:rPr>
              <a:t>Priorisation des contacts et personnalisation des argumentaires de vente</a:t>
            </a:r>
            <a:endParaRPr lang="en-US" sz="1700" dirty="0"/>
          </a:p>
        </p:txBody>
      </p:sp>
      <p:sp>
        <p:nvSpPr>
          <p:cNvPr id="12" name="Text 10"/>
          <p:cNvSpPr/>
          <p:nvPr/>
        </p:nvSpPr>
        <p:spPr>
          <a:xfrm>
            <a:off x="775930" y="5065276"/>
            <a:ext cx="13078539" cy="709374"/>
          </a:xfrm>
          <a:prstGeom prst="rect">
            <a:avLst/>
          </a:prstGeom>
          <a:noFill/>
          <a:ln/>
        </p:spPr>
        <p:txBody>
          <a:bodyPr wrap="square" lIns="0" tIns="0" rIns="0" bIns="0" rtlCol="0" anchor="t"/>
          <a:lstStyle/>
          <a:p>
            <a:pPr marL="0" indent="0" algn="l">
              <a:lnSpc>
                <a:spcPts val="2750"/>
              </a:lnSpc>
              <a:buNone/>
            </a:pPr>
            <a:r>
              <a:rPr lang="en-US" sz="1700" kern="0" spc="-35" dirty="0">
                <a:solidFill>
                  <a:srgbClr val="272525"/>
                </a:solidFill>
                <a:latin typeface="Inter" pitchFamily="34" charset="0"/>
                <a:ea typeface="Inter" pitchFamily="34" charset="-122"/>
                <a:cs typeface="Inter" pitchFamily="34" charset="-120"/>
              </a:rPr>
              <a:t>Un score d'appétence se traduit généralement par une valeur comprise entre 0 et 1 (ou 0% et 100%), où 1 représente la plus forte probabilité d'intérêt. Cette métrique permet de segmenter votre base de contacts et d'adapter votre stratégie à chaque groupe.</a:t>
            </a:r>
            <a:endParaRPr lang="en-US" sz="1700" dirty="0"/>
          </a:p>
        </p:txBody>
      </p:sp>
      <p:sp>
        <p:nvSpPr>
          <p:cNvPr id="13" name="Text 11"/>
          <p:cNvSpPr/>
          <p:nvPr/>
        </p:nvSpPr>
        <p:spPr>
          <a:xfrm>
            <a:off x="775930" y="6023967"/>
            <a:ext cx="13078539" cy="1418749"/>
          </a:xfrm>
          <a:prstGeom prst="rect">
            <a:avLst/>
          </a:prstGeom>
          <a:noFill/>
          <a:ln/>
        </p:spPr>
        <p:txBody>
          <a:bodyPr wrap="square" lIns="0" tIns="0" rIns="0" bIns="0" rtlCol="0" anchor="t"/>
          <a:lstStyle/>
          <a:p>
            <a:pPr marL="0" indent="0" algn="l">
              <a:lnSpc>
                <a:spcPts val="2750"/>
              </a:lnSpc>
              <a:buNone/>
            </a:pPr>
            <a:r>
              <a:rPr lang="en-US" sz="1700" kern="0" spc="-35" dirty="0">
                <a:solidFill>
                  <a:srgbClr val="272525"/>
                </a:solidFill>
                <a:latin typeface="Inter" pitchFamily="34" charset="0"/>
                <a:ea typeface="Inter" pitchFamily="34" charset="-122"/>
                <a:cs typeface="Inter" pitchFamily="34" charset="-120"/>
              </a:rPr>
              <a:t>Pour les segments à forte appétence, privilégiez des actions commerciales directes et personnalisées. Les segments intermédiaires bénéficieront davantage de communications ciblées et d'offres incitatives. Quant aux segments à faible appétence, ils peuvent être soit exclus temporairement des campagnes, soit approchés avec des messages de sensibilisation permettant de faire évoluer leur perception.</a:t>
            </a:r>
            <a:endParaRPr lang="en-US" sz="1700" dirty="0"/>
          </a:p>
        </p:txBody>
      </p:sp>
      <p:sp>
        <p:nvSpPr>
          <p:cNvPr id="14" name="Rectangle : coins arrondis 13">
            <a:extLst>
              <a:ext uri="{FF2B5EF4-FFF2-40B4-BE49-F238E27FC236}">
                <a16:creationId xmlns:a16="http://schemas.microsoft.com/office/drawing/2014/main" id="{CB99A726-0E7A-D434-9D49-540C7B5BED41}"/>
              </a:ext>
            </a:extLst>
          </p:cNvPr>
          <p:cNvSpPr/>
          <p:nvPr/>
        </p:nvSpPr>
        <p:spPr>
          <a:xfrm>
            <a:off x="12640962" y="7653138"/>
            <a:ext cx="1890584" cy="480887"/>
          </a:xfrm>
          <a:prstGeom prst="roundRect">
            <a:avLst/>
          </a:prstGeom>
          <a:solidFill>
            <a:srgbClr val="FDFA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82955" y="616863"/>
            <a:ext cx="8870037" cy="768906"/>
          </a:xfrm>
          <a:prstGeom prst="rect">
            <a:avLst/>
          </a:prstGeom>
          <a:noFill/>
          <a:ln/>
        </p:spPr>
        <p:txBody>
          <a:bodyPr wrap="none" lIns="0" tIns="0" rIns="0" bIns="0" rtlCol="0" anchor="t"/>
          <a:lstStyle/>
          <a:p>
            <a:pPr marL="0" indent="0" algn="l">
              <a:lnSpc>
                <a:spcPts val="6050"/>
              </a:lnSpc>
              <a:buNone/>
            </a:pPr>
            <a:r>
              <a:rPr lang="en-US" sz="4800" b="1" kern="0" spc="-97" dirty="0">
                <a:solidFill>
                  <a:srgbClr val="F95F88"/>
                </a:solidFill>
                <a:latin typeface="Petrona Bold" pitchFamily="34" charset="0"/>
                <a:ea typeface="Petrona Bold" pitchFamily="34" charset="-122"/>
                <a:cs typeface="Petrona Bold" pitchFamily="34" charset="-120"/>
              </a:rPr>
              <a:t>Exemples Concrets d'Application</a:t>
            </a:r>
            <a:endParaRPr lang="en-US" sz="4800" dirty="0"/>
          </a:p>
        </p:txBody>
      </p:sp>
      <p:sp>
        <p:nvSpPr>
          <p:cNvPr id="3" name="Shape 1"/>
          <p:cNvSpPr/>
          <p:nvPr/>
        </p:nvSpPr>
        <p:spPr>
          <a:xfrm>
            <a:off x="782955" y="1833205"/>
            <a:ext cx="4205645" cy="2770942"/>
          </a:xfrm>
          <a:prstGeom prst="roundRect">
            <a:avLst>
              <a:gd name="adj" fmla="val 3391"/>
            </a:avLst>
          </a:prstGeom>
          <a:solidFill>
            <a:srgbClr val="E0D7F4"/>
          </a:solidFill>
          <a:ln w="7620">
            <a:solidFill>
              <a:srgbClr val="C6BDDA"/>
            </a:solidFill>
            <a:prstDash val="solid"/>
          </a:ln>
        </p:spPr>
      </p:sp>
      <p:sp>
        <p:nvSpPr>
          <p:cNvPr id="4" name="Text 2"/>
          <p:cNvSpPr/>
          <p:nvPr/>
        </p:nvSpPr>
        <p:spPr>
          <a:xfrm>
            <a:off x="1014293" y="2064544"/>
            <a:ext cx="3076099" cy="384572"/>
          </a:xfrm>
          <a:prstGeom prst="rect">
            <a:avLst/>
          </a:prstGeom>
          <a:noFill/>
          <a:ln/>
        </p:spPr>
        <p:txBody>
          <a:bodyPr wrap="none" lIns="0" tIns="0" rIns="0" bIns="0" rtlCol="0" anchor="t"/>
          <a:lstStyle/>
          <a:p>
            <a:pPr marL="0" indent="0" algn="l">
              <a:lnSpc>
                <a:spcPts val="3000"/>
              </a:lnSpc>
              <a:buNone/>
            </a:pPr>
            <a:r>
              <a:rPr lang="en-US" sz="2400" b="1" kern="0" spc="-48" dirty="0">
                <a:solidFill>
                  <a:srgbClr val="272525"/>
                </a:solidFill>
                <a:latin typeface="Petrona Bold" pitchFamily="34" charset="0"/>
                <a:ea typeface="Petrona Bold" pitchFamily="34" charset="-122"/>
                <a:cs typeface="Petrona Bold" pitchFamily="34" charset="-120"/>
              </a:rPr>
              <a:t>Banque &amp; Assurance</a:t>
            </a:r>
            <a:endParaRPr lang="en-US" sz="2400" dirty="0"/>
          </a:p>
        </p:txBody>
      </p:sp>
      <p:sp>
        <p:nvSpPr>
          <p:cNvPr id="5" name="Text 3"/>
          <p:cNvSpPr/>
          <p:nvPr/>
        </p:nvSpPr>
        <p:spPr>
          <a:xfrm>
            <a:off x="1014293" y="2583299"/>
            <a:ext cx="3742968" cy="1431608"/>
          </a:xfrm>
          <a:prstGeom prst="rect">
            <a:avLst/>
          </a:prstGeom>
          <a:noFill/>
          <a:ln/>
        </p:spPr>
        <p:txBody>
          <a:bodyPr wrap="square" lIns="0" tIns="0" rIns="0" bIns="0" rtlCol="0" anchor="t"/>
          <a:lstStyle/>
          <a:p>
            <a:pPr marL="0" indent="0" algn="l">
              <a:lnSpc>
                <a:spcPts val="2800"/>
              </a:lnSpc>
              <a:buNone/>
            </a:pPr>
            <a:r>
              <a:rPr lang="en-US" sz="1750" kern="0" spc="-35" dirty="0">
                <a:solidFill>
                  <a:srgbClr val="272525"/>
                </a:solidFill>
                <a:latin typeface="Inter" pitchFamily="34" charset="0"/>
                <a:ea typeface="Inter" pitchFamily="34" charset="-122"/>
                <a:cs typeface="Inter" pitchFamily="34" charset="-120"/>
              </a:rPr>
              <a:t>Prédiction de la propension à souscrire un crédit immobilier basée sur des événements de vie détectés et l'historique des produits détenus.</a:t>
            </a:r>
            <a:endParaRPr lang="en-US" sz="1750" dirty="0"/>
          </a:p>
        </p:txBody>
      </p:sp>
      <p:sp>
        <p:nvSpPr>
          <p:cNvPr id="6" name="Shape 4"/>
          <p:cNvSpPr/>
          <p:nvPr/>
        </p:nvSpPr>
        <p:spPr>
          <a:xfrm>
            <a:off x="5212318" y="1833205"/>
            <a:ext cx="4205645" cy="2770942"/>
          </a:xfrm>
          <a:prstGeom prst="roundRect">
            <a:avLst>
              <a:gd name="adj" fmla="val 3391"/>
            </a:avLst>
          </a:prstGeom>
          <a:solidFill>
            <a:srgbClr val="E0D7F4"/>
          </a:solidFill>
          <a:ln w="7620">
            <a:solidFill>
              <a:srgbClr val="C6BDDA"/>
            </a:solidFill>
            <a:prstDash val="solid"/>
          </a:ln>
        </p:spPr>
      </p:sp>
      <p:sp>
        <p:nvSpPr>
          <p:cNvPr id="7" name="Text 5"/>
          <p:cNvSpPr/>
          <p:nvPr/>
        </p:nvSpPr>
        <p:spPr>
          <a:xfrm>
            <a:off x="5443657" y="2064544"/>
            <a:ext cx="3076099" cy="384572"/>
          </a:xfrm>
          <a:prstGeom prst="rect">
            <a:avLst/>
          </a:prstGeom>
          <a:noFill/>
          <a:ln/>
        </p:spPr>
        <p:txBody>
          <a:bodyPr wrap="none" lIns="0" tIns="0" rIns="0" bIns="0" rtlCol="0" anchor="t"/>
          <a:lstStyle/>
          <a:p>
            <a:pPr marL="0" indent="0" algn="l">
              <a:lnSpc>
                <a:spcPts val="3000"/>
              </a:lnSpc>
              <a:buNone/>
            </a:pPr>
            <a:r>
              <a:rPr lang="en-US" sz="2400" b="1" kern="0" spc="-48" dirty="0">
                <a:solidFill>
                  <a:srgbClr val="272525"/>
                </a:solidFill>
                <a:latin typeface="Petrona Bold" pitchFamily="34" charset="0"/>
                <a:ea typeface="Petrona Bold" pitchFamily="34" charset="-122"/>
                <a:cs typeface="Petrona Bold" pitchFamily="34" charset="-120"/>
              </a:rPr>
              <a:t>E-commerce</a:t>
            </a:r>
            <a:endParaRPr lang="en-US" sz="2400" dirty="0"/>
          </a:p>
        </p:txBody>
      </p:sp>
      <p:sp>
        <p:nvSpPr>
          <p:cNvPr id="8" name="Text 6"/>
          <p:cNvSpPr/>
          <p:nvPr/>
        </p:nvSpPr>
        <p:spPr>
          <a:xfrm>
            <a:off x="5443657" y="2583299"/>
            <a:ext cx="3742968" cy="1789509"/>
          </a:xfrm>
          <a:prstGeom prst="rect">
            <a:avLst/>
          </a:prstGeom>
          <a:noFill/>
          <a:ln/>
        </p:spPr>
        <p:txBody>
          <a:bodyPr wrap="square" lIns="0" tIns="0" rIns="0" bIns="0" rtlCol="0" anchor="t"/>
          <a:lstStyle/>
          <a:p>
            <a:pPr marL="0" indent="0" algn="l">
              <a:lnSpc>
                <a:spcPts val="2800"/>
              </a:lnSpc>
              <a:buNone/>
            </a:pPr>
            <a:r>
              <a:rPr lang="en-US" sz="1750" kern="0" spc="-35" dirty="0">
                <a:solidFill>
                  <a:srgbClr val="272525"/>
                </a:solidFill>
                <a:latin typeface="Inter" pitchFamily="34" charset="0"/>
                <a:ea typeface="Inter" pitchFamily="34" charset="-122"/>
                <a:cs typeface="Inter" pitchFamily="34" charset="-120"/>
              </a:rPr>
              <a:t>Identification des clients susceptibles d'acheter dans une nouvelle catégorie de produits en fonction de leur navigation et des achats antérieurs.</a:t>
            </a:r>
            <a:endParaRPr lang="en-US" sz="1750" dirty="0"/>
          </a:p>
        </p:txBody>
      </p:sp>
      <p:sp>
        <p:nvSpPr>
          <p:cNvPr id="9" name="Shape 7"/>
          <p:cNvSpPr/>
          <p:nvPr/>
        </p:nvSpPr>
        <p:spPr>
          <a:xfrm>
            <a:off x="9641681" y="1833205"/>
            <a:ext cx="4205645" cy="2770942"/>
          </a:xfrm>
          <a:prstGeom prst="roundRect">
            <a:avLst>
              <a:gd name="adj" fmla="val 3391"/>
            </a:avLst>
          </a:prstGeom>
          <a:solidFill>
            <a:srgbClr val="E0D7F4"/>
          </a:solidFill>
          <a:ln w="7620">
            <a:solidFill>
              <a:srgbClr val="C6BDDA"/>
            </a:solidFill>
            <a:prstDash val="solid"/>
          </a:ln>
        </p:spPr>
      </p:sp>
      <p:sp>
        <p:nvSpPr>
          <p:cNvPr id="10" name="Text 8"/>
          <p:cNvSpPr/>
          <p:nvPr/>
        </p:nvSpPr>
        <p:spPr>
          <a:xfrm>
            <a:off x="9873020" y="2064544"/>
            <a:ext cx="3076099" cy="384572"/>
          </a:xfrm>
          <a:prstGeom prst="rect">
            <a:avLst/>
          </a:prstGeom>
          <a:noFill/>
          <a:ln/>
        </p:spPr>
        <p:txBody>
          <a:bodyPr wrap="none" lIns="0" tIns="0" rIns="0" bIns="0" rtlCol="0" anchor="t"/>
          <a:lstStyle/>
          <a:p>
            <a:pPr marL="0" indent="0" algn="l">
              <a:lnSpc>
                <a:spcPts val="3000"/>
              </a:lnSpc>
              <a:buNone/>
            </a:pPr>
            <a:r>
              <a:rPr lang="en-US" sz="2400" b="1" kern="0" spc="-48" dirty="0">
                <a:solidFill>
                  <a:srgbClr val="272525"/>
                </a:solidFill>
                <a:latin typeface="Petrona Bold" pitchFamily="34" charset="0"/>
                <a:ea typeface="Petrona Bold" pitchFamily="34" charset="-122"/>
                <a:cs typeface="Petrona Bold" pitchFamily="34" charset="-120"/>
              </a:rPr>
              <a:t>Télécommunications</a:t>
            </a:r>
            <a:endParaRPr lang="en-US" sz="2400" dirty="0"/>
          </a:p>
        </p:txBody>
      </p:sp>
      <p:sp>
        <p:nvSpPr>
          <p:cNvPr id="11" name="Text 9"/>
          <p:cNvSpPr/>
          <p:nvPr/>
        </p:nvSpPr>
        <p:spPr>
          <a:xfrm>
            <a:off x="9873020" y="2583299"/>
            <a:ext cx="3742968" cy="1431608"/>
          </a:xfrm>
          <a:prstGeom prst="rect">
            <a:avLst/>
          </a:prstGeom>
          <a:noFill/>
          <a:ln/>
        </p:spPr>
        <p:txBody>
          <a:bodyPr wrap="square" lIns="0" tIns="0" rIns="0" bIns="0" rtlCol="0" anchor="t"/>
          <a:lstStyle/>
          <a:p>
            <a:pPr marL="0" indent="0" algn="l">
              <a:lnSpc>
                <a:spcPts val="2800"/>
              </a:lnSpc>
              <a:buNone/>
            </a:pPr>
            <a:r>
              <a:rPr lang="en-US" sz="1750" kern="0" spc="-35" dirty="0">
                <a:solidFill>
                  <a:srgbClr val="272525"/>
                </a:solidFill>
                <a:latin typeface="Inter" pitchFamily="34" charset="0"/>
                <a:ea typeface="Inter" pitchFamily="34" charset="-122"/>
                <a:cs typeface="Inter" pitchFamily="34" charset="-120"/>
              </a:rPr>
              <a:t>Détection des clients réceptifs à une montée en gamme d'abonnement selon leur consommation et leurs interactions avec le service client.</a:t>
            </a:r>
            <a:endParaRPr lang="en-US" sz="1750" dirty="0"/>
          </a:p>
        </p:txBody>
      </p:sp>
      <p:sp>
        <p:nvSpPr>
          <p:cNvPr id="12" name="Text 10"/>
          <p:cNvSpPr/>
          <p:nvPr/>
        </p:nvSpPr>
        <p:spPr>
          <a:xfrm>
            <a:off x="782955" y="4855726"/>
            <a:ext cx="13064490" cy="1431608"/>
          </a:xfrm>
          <a:prstGeom prst="rect">
            <a:avLst/>
          </a:prstGeom>
          <a:noFill/>
          <a:ln/>
        </p:spPr>
        <p:txBody>
          <a:bodyPr wrap="square" lIns="0" tIns="0" rIns="0" bIns="0" rtlCol="0" anchor="t"/>
          <a:lstStyle/>
          <a:p>
            <a:pPr marL="0" indent="0" algn="l">
              <a:lnSpc>
                <a:spcPts val="2800"/>
              </a:lnSpc>
              <a:buNone/>
            </a:pPr>
            <a:r>
              <a:rPr lang="en-US" sz="1750" kern="0" spc="-35" dirty="0">
                <a:solidFill>
                  <a:srgbClr val="272525"/>
                </a:solidFill>
                <a:latin typeface="Inter" pitchFamily="34" charset="0"/>
                <a:ea typeface="Inter" pitchFamily="34" charset="-122"/>
                <a:cs typeface="Inter" pitchFamily="34" charset="-120"/>
              </a:rPr>
              <a:t>Le secteur bancaire utilise fréquemment les scores d'appétence pour optimiser la promotion de produits d'épargne ou d'assurance. Par exemple, une grande banque française a augmenté de 45% ses taux de conversion en ciblant les clients ayant un score d'appétence élevé pour l'assurance-vie, identifiés grâce à des indicateurs comme un dépôt important récent ou la consultation de pages web sur la retraite.</a:t>
            </a:r>
            <a:endParaRPr lang="en-US" sz="1750" dirty="0"/>
          </a:p>
        </p:txBody>
      </p:sp>
      <p:sp>
        <p:nvSpPr>
          <p:cNvPr id="13" name="Text 11"/>
          <p:cNvSpPr/>
          <p:nvPr/>
        </p:nvSpPr>
        <p:spPr>
          <a:xfrm>
            <a:off x="782955" y="6538913"/>
            <a:ext cx="13064490" cy="1073706"/>
          </a:xfrm>
          <a:prstGeom prst="rect">
            <a:avLst/>
          </a:prstGeom>
          <a:noFill/>
          <a:ln/>
        </p:spPr>
        <p:txBody>
          <a:bodyPr wrap="square" lIns="0" tIns="0" rIns="0" bIns="0" rtlCol="0" anchor="t"/>
          <a:lstStyle/>
          <a:p>
            <a:pPr marL="0" indent="0" algn="l">
              <a:lnSpc>
                <a:spcPts val="2800"/>
              </a:lnSpc>
              <a:buNone/>
            </a:pPr>
            <a:r>
              <a:rPr lang="en-US" sz="1750" kern="0" spc="-35" dirty="0">
                <a:solidFill>
                  <a:srgbClr val="272525"/>
                </a:solidFill>
                <a:latin typeface="Inter" pitchFamily="34" charset="0"/>
                <a:ea typeface="Inter" pitchFamily="34" charset="-122"/>
                <a:cs typeface="Inter" pitchFamily="34" charset="-120"/>
              </a:rPr>
              <a:t>Dans le domaine du e-commerce, les enseignes exploitent ces scores pour personnaliser les recommandations produits et ajuster dynamiquement les campagnes marketing. Une étude menée par un acteur majeur du secteur a démontré une augmentation de 28% du panier moyen lors de campagnes basées sur le scoring d'appétence.</a:t>
            </a:r>
            <a:endParaRPr lang="en-US" sz="1750" dirty="0"/>
          </a:p>
        </p:txBody>
      </p:sp>
      <p:sp>
        <p:nvSpPr>
          <p:cNvPr id="14" name="Rectangle : coins arrondis 13">
            <a:extLst>
              <a:ext uri="{FF2B5EF4-FFF2-40B4-BE49-F238E27FC236}">
                <a16:creationId xmlns:a16="http://schemas.microsoft.com/office/drawing/2014/main" id="{F834B5A9-EB1D-8F0F-31C0-6D2A71B7C319}"/>
              </a:ext>
            </a:extLst>
          </p:cNvPr>
          <p:cNvSpPr/>
          <p:nvPr/>
        </p:nvSpPr>
        <p:spPr>
          <a:xfrm>
            <a:off x="12640962" y="7653138"/>
            <a:ext cx="1890584" cy="480887"/>
          </a:xfrm>
          <a:prstGeom prst="roundRect">
            <a:avLst/>
          </a:prstGeom>
          <a:solidFill>
            <a:srgbClr val="FDFA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6750" y="524828"/>
            <a:ext cx="6446877" cy="654844"/>
          </a:xfrm>
          <a:prstGeom prst="rect">
            <a:avLst/>
          </a:prstGeom>
          <a:noFill/>
          <a:ln/>
        </p:spPr>
        <p:txBody>
          <a:bodyPr wrap="none" lIns="0" tIns="0" rIns="0" bIns="0" rtlCol="0" anchor="t"/>
          <a:lstStyle/>
          <a:p>
            <a:pPr marL="0" indent="0" algn="l">
              <a:lnSpc>
                <a:spcPts val="5150"/>
              </a:lnSpc>
              <a:buNone/>
            </a:pPr>
            <a:r>
              <a:rPr lang="en-US" sz="4100" b="1" kern="0" spc="-83" dirty="0">
                <a:solidFill>
                  <a:srgbClr val="F95F88"/>
                </a:solidFill>
                <a:latin typeface="Petrona Bold" pitchFamily="34" charset="0"/>
                <a:ea typeface="Petrona Bold" pitchFamily="34" charset="-122"/>
                <a:cs typeface="Petrona Bold" pitchFamily="34" charset="-120"/>
              </a:rPr>
              <a:t>Limites et Bonnes Pratiques</a:t>
            </a:r>
            <a:endParaRPr lang="en-US" sz="4100" dirty="0"/>
          </a:p>
        </p:txBody>
      </p:sp>
      <p:sp>
        <p:nvSpPr>
          <p:cNvPr id="3" name="Shape 1"/>
          <p:cNvSpPr/>
          <p:nvPr/>
        </p:nvSpPr>
        <p:spPr>
          <a:xfrm>
            <a:off x="7303770" y="1560671"/>
            <a:ext cx="22860" cy="4191357"/>
          </a:xfrm>
          <a:prstGeom prst="roundRect">
            <a:avLst>
              <a:gd name="adj" fmla="val 350031"/>
            </a:avLst>
          </a:prstGeom>
          <a:solidFill>
            <a:srgbClr val="C6BDDA"/>
          </a:solidFill>
          <a:ln/>
        </p:spPr>
      </p:sp>
      <p:sp>
        <p:nvSpPr>
          <p:cNvPr id="4" name="Shape 2"/>
          <p:cNvSpPr/>
          <p:nvPr/>
        </p:nvSpPr>
        <p:spPr>
          <a:xfrm>
            <a:off x="6552248" y="1977866"/>
            <a:ext cx="571500" cy="22860"/>
          </a:xfrm>
          <a:prstGeom prst="roundRect">
            <a:avLst>
              <a:gd name="adj" fmla="val 350031"/>
            </a:avLst>
          </a:prstGeom>
          <a:solidFill>
            <a:srgbClr val="C6BDDA"/>
          </a:solidFill>
          <a:ln/>
        </p:spPr>
      </p:sp>
      <p:sp>
        <p:nvSpPr>
          <p:cNvPr id="5" name="Shape 3"/>
          <p:cNvSpPr/>
          <p:nvPr/>
        </p:nvSpPr>
        <p:spPr>
          <a:xfrm>
            <a:off x="7100888" y="1774984"/>
            <a:ext cx="428625" cy="428625"/>
          </a:xfrm>
          <a:prstGeom prst="roundRect">
            <a:avLst>
              <a:gd name="adj" fmla="val 18668"/>
            </a:avLst>
          </a:prstGeom>
          <a:solidFill>
            <a:srgbClr val="E0D7F4"/>
          </a:solidFill>
          <a:ln w="7620">
            <a:solidFill>
              <a:srgbClr val="C6BDDA"/>
            </a:solidFill>
            <a:prstDash val="solid"/>
          </a:ln>
        </p:spPr>
      </p:sp>
      <p:pic>
        <p:nvPicPr>
          <p:cNvPr id="6" name="Image 0" descr="preencoded.png"/>
          <p:cNvPicPr>
            <a:picLocks noChangeAspect="1"/>
          </p:cNvPicPr>
          <p:nvPr/>
        </p:nvPicPr>
        <p:blipFill>
          <a:blip r:embed="rId3"/>
          <a:stretch>
            <a:fillRect/>
          </a:stretch>
        </p:blipFill>
        <p:spPr>
          <a:xfrm>
            <a:off x="7158038" y="1792843"/>
            <a:ext cx="314325" cy="392906"/>
          </a:xfrm>
          <a:prstGeom prst="rect">
            <a:avLst/>
          </a:prstGeom>
        </p:spPr>
      </p:pic>
      <p:sp>
        <p:nvSpPr>
          <p:cNvPr id="7" name="Text 4"/>
          <p:cNvSpPr/>
          <p:nvPr/>
        </p:nvSpPr>
        <p:spPr>
          <a:xfrm>
            <a:off x="3743206" y="1751171"/>
            <a:ext cx="2619494" cy="327422"/>
          </a:xfrm>
          <a:prstGeom prst="rect">
            <a:avLst/>
          </a:prstGeom>
          <a:noFill/>
          <a:ln/>
        </p:spPr>
        <p:txBody>
          <a:bodyPr wrap="none" lIns="0" tIns="0" rIns="0" bIns="0" rtlCol="0" anchor="t"/>
          <a:lstStyle/>
          <a:p>
            <a:pPr marL="0" indent="0" algn="r">
              <a:lnSpc>
                <a:spcPts val="2550"/>
              </a:lnSpc>
              <a:buNone/>
            </a:pPr>
            <a:r>
              <a:rPr lang="en-US" sz="2050" b="1" kern="0" spc="-41" dirty="0">
                <a:solidFill>
                  <a:srgbClr val="272525"/>
                </a:solidFill>
                <a:latin typeface="Petrona Bold" pitchFamily="34" charset="0"/>
                <a:ea typeface="Petrona Bold" pitchFamily="34" charset="-122"/>
                <a:cs typeface="Petrona Bold" pitchFamily="34" charset="-120"/>
              </a:rPr>
              <a:t>Qualité des Données</a:t>
            </a:r>
            <a:endParaRPr lang="en-US" sz="2050" dirty="0"/>
          </a:p>
        </p:txBody>
      </p:sp>
      <p:sp>
        <p:nvSpPr>
          <p:cNvPr id="8" name="Text 5"/>
          <p:cNvSpPr/>
          <p:nvPr/>
        </p:nvSpPr>
        <p:spPr>
          <a:xfrm>
            <a:off x="666750" y="2192893"/>
            <a:ext cx="5695950" cy="609600"/>
          </a:xfrm>
          <a:prstGeom prst="rect">
            <a:avLst/>
          </a:prstGeom>
          <a:noFill/>
          <a:ln/>
        </p:spPr>
        <p:txBody>
          <a:bodyPr wrap="square" lIns="0" tIns="0" rIns="0" bIns="0" rtlCol="0" anchor="t"/>
          <a:lstStyle/>
          <a:p>
            <a:pPr marL="0" indent="0" algn="r">
              <a:lnSpc>
                <a:spcPts val="2400"/>
              </a:lnSpc>
              <a:buNone/>
            </a:pPr>
            <a:r>
              <a:rPr lang="en-US" sz="1500" kern="0" spc="-30" dirty="0">
                <a:solidFill>
                  <a:srgbClr val="272525"/>
                </a:solidFill>
                <a:latin typeface="Inter" pitchFamily="34" charset="0"/>
                <a:ea typeface="Inter" pitchFamily="34" charset="-122"/>
                <a:cs typeface="Inter" pitchFamily="34" charset="-120"/>
              </a:rPr>
              <a:t>Assurez-vous de disposer de données complètes, à jour et représentatives de votre marché cible.</a:t>
            </a:r>
            <a:endParaRPr lang="en-US" sz="1500" dirty="0"/>
          </a:p>
        </p:txBody>
      </p:sp>
      <p:sp>
        <p:nvSpPr>
          <p:cNvPr id="9" name="Shape 6"/>
          <p:cNvSpPr/>
          <p:nvPr/>
        </p:nvSpPr>
        <p:spPr>
          <a:xfrm>
            <a:off x="7506653" y="2930366"/>
            <a:ext cx="571500" cy="22860"/>
          </a:xfrm>
          <a:prstGeom prst="roundRect">
            <a:avLst>
              <a:gd name="adj" fmla="val 350031"/>
            </a:avLst>
          </a:prstGeom>
          <a:solidFill>
            <a:srgbClr val="C6BDDA"/>
          </a:solidFill>
          <a:ln/>
        </p:spPr>
      </p:sp>
      <p:sp>
        <p:nvSpPr>
          <p:cNvPr id="10" name="Shape 7"/>
          <p:cNvSpPr/>
          <p:nvPr/>
        </p:nvSpPr>
        <p:spPr>
          <a:xfrm>
            <a:off x="7100888" y="2727484"/>
            <a:ext cx="428625" cy="428625"/>
          </a:xfrm>
          <a:prstGeom prst="roundRect">
            <a:avLst>
              <a:gd name="adj" fmla="val 18668"/>
            </a:avLst>
          </a:prstGeom>
          <a:solidFill>
            <a:srgbClr val="E0D7F4"/>
          </a:solidFill>
          <a:ln w="7620">
            <a:solidFill>
              <a:srgbClr val="C6BDDA"/>
            </a:solidFill>
            <a:prstDash val="solid"/>
          </a:ln>
        </p:spPr>
      </p:sp>
      <p:pic>
        <p:nvPicPr>
          <p:cNvPr id="11" name="Image 1" descr="preencoded.png"/>
          <p:cNvPicPr>
            <a:picLocks noChangeAspect="1"/>
          </p:cNvPicPr>
          <p:nvPr/>
        </p:nvPicPr>
        <p:blipFill>
          <a:blip r:embed="rId4"/>
          <a:stretch>
            <a:fillRect/>
          </a:stretch>
        </p:blipFill>
        <p:spPr>
          <a:xfrm>
            <a:off x="7158038" y="2745343"/>
            <a:ext cx="314325" cy="392906"/>
          </a:xfrm>
          <a:prstGeom prst="rect">
            <a:avLst/>
          </a:prstGeom>
        </p:spPr>
      </p:pic>
      <p:sp>
        <p:nvSpPr>
          <p:cNvPr id="12" name="Text 8"/>
          <p:cNvSpPr/>
          <p:nvPr/>
        </p:nvSpPr>
        <p:spPr>
          <a:xfrm>
            <a:off x="8267700" y="2703671"/>
            <a:ext cx="2701409" cy="327422"/>
          </a:xfrm>
          <a:prstGeom prst="rect">
            <a:avLst/>
          </a:prstGeom>
          <a:noFill/>
          <a:ln/>
        </p:spPr>
        <p:txBody>
          <a:bodyPr wrap="none" lIns="0" tIns="0" rIns="0" bIns="0" rtlCol="0" anchor="t"/>
          <a:lstStyle/>
          <a:p>
            <a:pPr marL="0" indent="0" algn="l">
              <a:lnSpc>
                <a:spcPts val="2550"/>
              </a:lnSpc>
              <a:buNone/>
            </a:pPr>
            <a:r>
              <a:rPr lang="en-US" sz="2050" b="1" kern="0" spc="-41" dirty="0">
                <a:solidFill>
                  <a:srgbClr val="272525"/>
                </a:solidFill>
                <a:latin typeface="Petrona Bold" pitchFamily="34" charset="0"/>
                <a:ea typeface="Petrona Bold" pitchFamily="34" charset="-122"/>
                <a:cs typeface="Petrona Bold" pitchFamily="34" charset="-120"/>
              </a:rPr>
              <a:t>Actualisation Régulière</a:t>
            </a:r>
            <a:endParaRPr lang="en-US" sz="2050" dirty="0"/>
          </a:p>
        </p:txBody>
      </p:sp>
      <p:sp>
        <p:nvSpPr>
          <p:cNvPr id="13" name="Text 9"/>
          <p:cNvSpPr/>
          <p:nvPr/>
        </p:nvSpPr>
        <p:spPr>
          <a:xfrm>
            <a:off x="8267700" y="3145393"/>
            <a:ext cx="5695950" cy="609600"/>
          </a:xfrm>
          <a:prstGeom prst="rect">
            <a:avLst/>
          </a:prstGeom>
          <a:noFill/>
          <a:ln/>
        </p:spPr>
        <p:txBody>
          <a:bodyPr wrap="square" lIns="0" tIns="0" rIns="0" bIns="0" rtlCol="0" anchor="t"/>
          <a:lstStyle/>
          <a:p>
            <a:pPr marL="0" indent="0" algn="l">
              <a:lnSpc>
                <a:spcPts val="2400"/>
              </a:lnSpc>
              <a:buNone/>
            </a:pPr>
            <a:r>
              <a:rPr lang="en-US" sz="1500" kern="0" spc="-30" dirty="0">
                <a:solidFill>
                  <a:srgbClr val="272525"/>
                </a:solidFill>
                <a:latin typeface="Inter" pitchFamily="34" charset="0"/>
                <a:ea typeface="Inter" pitchFamily="34" charset="-122"/>
                <a:cs typeface="Inter" pitchFamily="34" charset="-120"/>
              </a:rPr>
              <a:t>Mettez à jour vos modèles pour refléter l'évolution des comportements et du marché.</a:t>
            </a:r>
            <a:endParaRPr lang="en-US" sz="1500" dirty="0"/>
          </a:p>
        </p:txBody>
      </p:sp>
      <p:sp>
        <p:nvSpPr>
          <p:cNvPr id="14" name="Shape 10"/>
          <p:cNvSpPr/>
          <p:nvPr/>
        </p:nvSpPr>
        <p:spPr>
          <a:xfrm>
            <a:off x="6552248" y="3787616"/>
            <a:ext cx="571500" cy="22860"/>
          </a:xfrm>
          <a:prstGeom prst="roundRect">
            <a:avLst>
              <a:gd name="adj" fmla="val 350031"/>
            </a:avLst>
          </a:prstGeom>
          <a:solidFill>
            <a:srgbClr val="C6BDDA"/>
          </a:solidFill>
          <a:ln/>
        </p:spPr>
      </p:sp>
      <p:sp>
        <p:nvSpPr>
          <p:cNvPr id="15" name="Shape 11"/>
          <p:cNvSpPr/>
          <p:nvPr/>
        </p:nvSpPr>
        <p:spPr>
          <a:xfrm>
            <a:off x="7100888" y="3584734"/>
            <a:ext cx="428625" cy="428625"/>
          </a:xfrm>
          <a:prstGeom prst="roundRect">
            <a:avLst>
              <a:gd name="adj" fmla="val 18668"/>
            </a:avLst>
          </a:prstGeom>
          <a:solidFill>
            <a:srgbClr val="E0D7F4"/>
          </a:solidFill>
          <a:ln w="7620">
            <a:solidFill>
              <a:srgbClr val="C6BDDA"/>
            </a:solidFill>
            <a:prstDash val="solid"/>
          </a:ln>
        </p:spPr>
      </p:sp>
      <p:pic>
        <p:nvPicPr>
          <p:cNvPr id="16" name="Image 2" descr="preencoded.png"/>
          <p:cNvPicPr>
            <a:picLocks noChangeAspect="1"/>
          </p:cNvPicPr>
          <p:nvPr/>
        </p:nvPicPr>
        <p:blipFill>
          <a:blip r:embed="rId5"/>
          <a:stretch>
            <a:fillRect/>
          </a:stretch>
        </p:blipFill>
        <p:spPr>
          <a:xfrm>
            <a:off x="7158038" y="3602593"/>
            <a:ext cx="314325" cy="392906"/>
          </a:xfrm>
          <a:prstGeom prst="rect">
            <a:avLst/>
          </a:prstGeom>
        </p:spPr>
      </p:pic>
      <p:sp>
        <p:nvSpPr>
          <p:cNvPr id="17" name="Text 12"/>
          <p:cNvSpPr/>
          <p:nvPr/>
        </p:nvSpPr>
        <p:spPr>
          <a:xfrm>
            <a:off x="3743206" y="3560921"/>
            <a:ext cx="2619494" cy="327422"/>
          </a:xfrm>
          <a:prstGeom prst="rect">
            <a:avLst/>
          </a:prstGeom>
          <a:noFill/>
          <a:ln/>
        </p:spPr>
        <p:txBody>
          <a:bodyPr wrap="none" lIns="0" tIns="0" rIns="0" bIns="0" rtlCol="0" anchor="t"/>
          <a:lstStyle/>
          <a:p>
            <a:pPr marL="0" indent="0" algn="r">
              <a:lnSpc>
                <a:spcPts val="2550"/>
              </a:lnSpc>
              <a:buNone/>
            </a:pPr>
            <a:r>
              <a:rPr lang="en-US" sz="2050" b="1" kern="0" spc="-41" dirty="0">
                <a:solidFill>
                  <a:srgbClr val="272525"/>
                </a:solidFill>
                <a:latin typeface="Petrona Bold" pitchFamily="34" charset="0"/>
                <a:ea typeface="Petrona Bold" pitchFamily="34" charset="-122"/>
                <a:cs typeface="Petrona Bold" pitchFamily="34" charset="-120"/>
              </a:rPr>
              <a:t>Conformité RGPD</a:t>
            </a:r>
            <a:endParaRPr lang="en-US" sz="2050" dirty="0"/>
          </a:p>
        </p:txBody>
      </p:sp>
      <p:sp>
        <p:nvSpPr>
          <p:cNvPr id="18" name="Text 13"/>
          <p:cNvSpPr/>
          <p:nvPr/>
        </p:nvSpPr>
        <p:spPr>
          <a:xfrm>
            <a:off x="666750" y="4002643"/>
            <a:ext cx="5695950" cy="609600"/>
          </a:xfrm>
          <a:prstGeom prst="rect">
            <a:avLst/>
          </a:prstGeom>
          <a:noFill/>
          <a:ln/>
        </p:spPr>
        <p:txBody>
          <a:bodyPr wrap="square" lIns="0" tIns="0" rIns="0" bIns="0" rtlCol="0" anchor="t"/>
          <a:lstStyle/>
          <a:p>
            <a:pPr marL="0" indent="0" algn="r">
              <a:lnSpc>
                <a:spcPts val="2400"/>
              </a:lnSpc>
              <a:buNone/>
            </a:pPr>
            <a:r>
              <a:rPr lang="en-US" sz="1500" kern="0" spc="-30" dirty="0">
                <a:solidFill>
                  <a:srgbClr val="272525"/>
                </a:solidFill>
                <a:latin typeface="Inter" pitchFamily="34" charset="0"/>
                <a:ea typeface="Inter" pitchFamily="34" charset="-122"/>
                <a:cs typeface="Inter" pitchFamily="34" charset="-120"/>
              </a:rPr>
              <a:t>Respectez la réglementation sur la protection des données personnelles dans toutes vos analyses.</a:t>
            </a:r>
            <a:endParaRPr lang="en-US" sz="1500" dirty="0"/>
          </a:p>
        </p:txBody>
      </p:sp>
      <p:sp>
        <p:nvSpPr>
          <p:cNvPr id="19" name="Shape 14"/>
          <p:cNvSpPr/>
          <p:nvPr/>
        </p:nvSpPr>
        <p:spPr>
          <a:xfrm>
            <a:off x="7506653" y="4644985"/>
            <a:ext cx="571500" cy="22860"/>
          </a:xfrm>
          <a:prstGeom prst="roundRect">
            <a:avLst>
              <a:gd name="adj" fmla="val 350031"/>
            </a:avLst>
          </a:prstGeom>
          <a:solidFill>
            <a:srgbClr val="C6BDDA"/>
          </a:solidFill>
          <a:ln/>
        </p:spPr>
      </p:sp>
      <p:sp>
        <p:nvSpPr>
          <p:cNvPr id="20" name="Shape 15"/>
          <p:cNvSpPr/>
          <p:nvPr/>
        </p:nvSpPr>
        <p:spPr>
          <a:xfrm>
            <a:off x="7100888" y="4442103"/>
            <a:ext cx="428625" cy="428625"/>
          </a:xfrm>
          <a:prstGeom prst="roundRect">
            <a:avLst>
              <a:gd name="adj" fmla="val 18668"/>
            </a:avLst>
          </a:prstGeom>
          <a:solidFill>
            <a:srgbClr val="E0D7F4"/>
          </a:solidFill>
          <a:ln w="7620">
            <a:solidFill>
              <a:srgbClr val="C6BDDA"/>
            </a:solidFill>
            <a:prstDash val="solid"/>
          </a:ln>
        </p:spPr>
      </p:sp>
      <p:pic>
        <p:nvPicPr>
          <p:cNvPr id="21" name="Image 3" descr="preencoded.png"/>
          <p:cNvPicPr>
            <a:picLocks noChangeAspect="1"/>
          </p:cNvPicPr>
          <p:nvPr/>
        </p:nvPicPr>
        <p:blipFill>
          <a:blip r:embed="rId6"/>
          <a:stretch>
            <a:fillRect/>
          </a:stretch>
        </p:blipFill>
        <p:spPr>
          <a:xfrm>
            <a:off x="7158038" y="4459962"/>
            <a:ext cx="314325" cy="392906"/>
          </a:xfrm>
          <a:prstGeom prst="rect">
            <a:avLst/>
          </a:prstGeom>
        </p:spPr>
      </p:pic>
      <p:sp>
        <p:nvSpPr>
          <p:cNvPr id="22" name="Text 16"/>
          <p:cNvSpPr/>
          <p:nvPr/>
        </p:nvSpPr>
        <p:spPr>
          <a:xfrm>
            <a:off x="8267700" y="4418290"/>
            <a:ext cx="2619494" cy="327422"/>
          </a:xfrm>
          <a:prstGeom prst="rect">
            <a:avLst/>
          </a:prstGeom>
          <a:noFill/>
          <a:ln/>
        </p:spPr>
        <p:txBody>
          <a:bodyPr wrap="none" lIns="0" tIns="0" rIns="0" bIns="0" rtlCol="0" anchor="t"/>
          <a:lstStyle/>
          <a:p>
            <a:pPr marL="0" indent="0" algn="l">
              <a:lnSpc>
                <a:spcPts val="2550"/>
              </a:lnSpc>
              <a:buNone/>
            </a:pPr>
            <a:r>
              <a:rPr lang="en-US" sz="2050" b="1" kern="0" spc="-41" dirty="0">
                <a:solidFill>
                  <a:srgbClr val="272525"/>
                </a:solidFill>
                <a:latin typeface="Petrona Bold" pitchFamily="34" charset="0"/>
                <a:ea typeface="Petrona Bold" pitchFamily="34" charset="-122"/>
                <a:cs typeface="Petrona Bold" pitchFamily="34" charset="-120"/>
              </a:rPr>
              <a:t>Tests Comparatifs</a:t>
            </a:r>
            <a:endParaRPr lang="en-US" sz="2050" dirty="0"/>
          </a:p>
        </p:txBody>
      </p:sp>
      <p:sp>
        <p:nvSpPr>
          <p:cNvPr id="23" name="Text 17"/>
          <p:cNvSpPr/>
          <p:nvPr/>
        </p:nvSpPr>
        <p:spPr>
          <a:xfrm>
            <a:off x="8267700" y="4860012"/>
            <a:ext cx="5695950" cy="609600"/>
          </a:xfrm>
          <a:prstGeom prst="rect">
            <a:avLst/>
          </a:prstGeom>
          <a:noFill/>
          <a:ln/>
        </p:spPr>
        <p:txBody>
          <a:bodyPr wrap="square" lIns="0" tIns="0" rIns="0" bIns="0" rtlCol="0" anchor="t"/>
          <a:lstStyle/>
          <a:p>
            <a:pPr marL="0" indent="0" algn="l">
              <a:lnSpc>
                <a:spcPts val="2400"/>
              </a:lnSpc>
              <a:buNone/>
            </a:pPr>
            <a:r>
              <a:rPr lang="en-US" sz="1500" kern="0" spc="-30" dirty="0">
                <a:solidFill>
                  <a:srgbClr val="272525"/>
                </a:solidFill>
                <a:latin typeface="Inter" pitchFamily="34" charset="0"/>
                <a:ea typeface="Inter" pitchFamily="34" charset="-122"/>
                <a:cs typeface="Inter" pitchFamily="34" charset="-120"/>
              </a:rPr>
              <a:t>Validez l'efficacité de votre score par des tests A/B rigoureux avant déploiement à grande échelle.</a:t>
            </a:r>
            <a:endParaRPr lang="en-US" sz="1500" dirty="0"/>
          </a:p>
        </p:txBody>
      </p:sp>
      <p:sp>
        <p:nvSpPr>
          <p:cNvPr id="24" name="Text 18"/>
          <p:cNvSpPr/>
          <p:nvPr/>
        </p:nvSpPr>
        <p:spPr>
          <a:xfrm>
            <a:off x="666750" y="5966341"/>
            <a:ext cx="13296900" cy="609600"/>
          </a:xfrm>
          <a:prstGeom prst="rect">
            <a:avLst/>
          </a:prstGeom>
          <a:noFill/>
          <a:ln/>
        </p:spPr>
        <p:txBody>
          <a:bodyPr wrap="square" lIns="0" tIns="0" rIns="0" bIns="0" rtlCol="0" anchor="t"/>
          <a:lstStyle/>
          <a:p>
            <a:pPr marL="0" indent="0" algn="l">
              <a:lnSpc>
                <a:spcPts val="2400"/>
              </a:lnSpc>
              <a:buNone/>
            </a:pPr>
            <a:r>
              <a:rPr lang="en-US" sz="1500" kern="0" spc="-30" dirty="0">
                <a:solidFill>
                  <a:srgbClr val="272525"/>
                </a:solidFill>
                <a:latin typeface="Inter" pitchFamily="34" charset="0"/>
                <a:ea typeface="Inter" pitchFamily="34" charset="-122"/>
                <a:cs typeface="Inter" pitchFamily="34" charset="-120"/>
              </a:rPr>
              <a:t>Malgré son efficacité, le score d'appétence présente certaines limitations. Un modèle mal calibré ou basé sur des données obsolètes peut conduire à des prédictions erronées. Par ailleurs, un score ne capture pas toujours les facteurs émotionnels ou contextuels qui influencent les décisions d'achat.</a:t>
            </a:r>
            <a:endParaRPr lang="en-US" sz="1500" dirty="0"/>
          </a:p>
        </p:txBody>
      </p:sp>
      <p:sp>
        <p:nvSpPr>
          <p:cNvPr id="25" name="Text 19"/>
          <p:cNvSpPr/>
          <p:nvPr/>
        </p:nvSpPr>
        <p:spPr>
          <a:xfrm>
            <a:off x="666750" y="6790253"/>
            <a:ext cx="13296900" cy="914400"/>
          </a:xfrm>
          <a:prstGeom prst="rect">
            <a:avLst/>
          </a:prstGeom>
          <a:noFill/>
          <a:ln/>
        </p:spPr>
        <p:txBody>
          <a:bodyPr wrap="square" lIns="0" tIns="0" rIns="0" bIns="0" rtlCol="0" anchor="t"/>
          <a:lstStyle/>
          <a:p>
            <a:pPr marL="0" indent="0" algn="l">
              <a:lnSpc>
                <a:spcPts val="2400"/>
              </a:lnSpc>
              <a:buNone/>
            </a:pPr>
            <a:r>
              <a:rPr lang="en-US" sz="1500" kern="0" spc="-30" dirty="0">
                <a:solidFill>
                  <a:srgbClr val="272525"/>
                </a:solidFill>
                <a:latin typeface="Inter" pitchFamily="34" charset="0"/>
                <a:ea typeface="Inter" pitchFamily="34" charset="-122"/>
                <a:cs typeface="Inter" pitchFamily="34" charset="-120"/>
              </a:rPr>
              <a:t>Pour maximiser la pertinence de votre approche, combinez le scoring avec d'autres indicateurs comme la valeur client (CLV) ou le risque d'attrition. Adoptez une démarche éthique en matière de collecte et d'utilisation des données, en privilégiant la transparence et en obtenant les consentements nécessaires. Enfin, considérez le score d'appétence comme un outil d'aide à la décision plutôt qu'une vérité absolue.</a:t>
            </a:r>
            <a:endParaRPr lang="en-US" sz="1500" dirty="0"/>
          </a:p>
        </p:txBody>
      </p:sp>
      <p:sp>
        <p:nvSpPr>
          <p:cNvPr id="26" name="Rectangle : coins arrondis 25">
            <a:extLst>
              <a:ext uri="{FF2B5EF4-FFF2-40B4-BE49-F238E27FC236}">
                <a16:creationId xmlns:a16="http://schemas.microsoft.com/office/drawing/2014/main" id="{AA7AC05D-E472-ADFE-D09B-7FEBCDE0031D}"/>
              </a:ext>
            </a:extLst>
          </p:cNvPr>
          <p:cNvSpPr/>
          <p:nvPr/>
        </p:nvSpPr>
        <p:spPr>
          <a:xfrm>
            <a:off x="12640962" y="7653138"/>
            <a:ext cx="1890584" cy="480887"/>
          </a:xfrm>
          <a:prstGeom prst="roundRect">
            <a:avLst/>
          </a:prstGeom>
          <a:solidFill>
            <a:srgbClr val="FDFA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TotalTime>
  <Words>1140</Words>
  <Application>Microsoft Macintosh PowerPoint</Application>
  <PresentationFormat>Personnalisé</PresentationFormat>
  <Paragraphs>84</Paragraphs>
  <Slides>8</Slides>
  <Notes>8</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8</vt:i4>
      </vt:variant>
    </vt:vector>
  </HeadingPairs>
  <TitlesOfParts>
    <vt:vector size="12" baseType="lpstr">
      <vt:lpstr>Petrona Bold</vt:lpstr>
      <vt:lpstr>Inter</vt:lpstr>
      <vt:lpstr>Arial</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youssef boughanmi</cp:lastModifiedBy>
  <cp:revision>3</cp:revision>
  <dcterms:created xsi:type="dcterms:W3CDTF">2025-04-05T16:44:10Z</dcterms:created>
  <dcterms:modified xsi:type="dcterms:W3CDTF">2025-04-05T17:45:31Z</dcterms:modified>
</cp:coreProperties>
</file>